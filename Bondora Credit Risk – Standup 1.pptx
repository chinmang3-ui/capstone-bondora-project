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Srinidhi and Mang. Our capstone looks at credit risk on Bondora, a peer-to-peer lending platform: which borrowers and which loans are most likely to default. This is standup 1, so I’ll cover the problem, stakeholders, KPIs, data source, our pipeline, who owns what, and where we are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Bondora, now called Go &amp; Grow, connects borrowers with investors. The investors carry the risk: if a borrower stops paying, the investor loses money. Our question is which borrower and loan characteristics go together with default, and how Bondora could use that for approving loans and for monitoring them once they’re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care about this. The credit-risk team decides who gets a loan and at what rate. Investors want to know where the risk sits. The monitoring or collections side wants early warning signs. And borrowers benefit indirectly from fair, consistent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KPI is the default rate. Because young loans haven’t had time to default, we also use the 12-month default rate, only on loans that are at least 12 months old, so different years compare fairly. Then we break the default rate down by segment, which is where the actual answer to our question comes from. And we track data completeness, because some key columns have a lot of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Bondora’s own public loan dataset from the Go &amp; Grow statistics page. The version we’re using has 843,755 loans and 22 columns, with loans issued from 2009 up to 2026. It comes with a data dictionary sheet. We grouped the columns into borrower information, loan terms, timing, repayment, and default outcomes. The median loan is about 1,275 euros. Note: we switched to a modified version of the file yesterday, so all numbers here are from that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pipeline has six steps. Loading and fixing data types are done: we save the data as Parquet so it reloads in seconds, and we put the risk rating in its real order from AA, the best grade, to HR, the riskiest. Cleaning is in progress. We dropped nr_of_payments because it only reflects the day the file was downloaded, and we’re deciding how to treat each kind of missing value. Next come exploration, default rates by segment, and finally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so far shows that most missing values have a clear reason. months_in_default is empty because those loans never defaulted. The risk rating and income are missing mostly for older loans, so analysis by rating or income will describe more recent lending. The 12-month flag is empty for loans that aren’t 12 months old yet. The one open question is 7,713 loans that are missing both the default flag and all repayment data. They look like cancelled or returned loans, and we want to confirm with Waleed that we can remove them. Other things we spotted to check: an interest rate up to 264% and a few slightly negative balances.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this split with Mang before presenting.] So far, Srinidhi has worked on the cleaning notebook and the documentation: README, data dictionary and the cleaning log. Mang set up the repository and Git LFS, which we need because the Excel file is too big for normal Git, and brought in the updated dataset. Everything is on GitHub: data, the notebook with its cleaning log, our daily goals, and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 the repo with Git LFS, data loaded with the right types, a missing-value check on every column, and the documentation. Next: settle the 7,713 cancelled loans, rebuild the default flag from clean data, then default rates by segment with charts. Blockers: we both edited the same notebook and committed the Parquet file, which caused merge conflicts; the fix is to stop tracking the Parquet file and split notebook ownership. We also switched to a modified dataset mid-cleaning, so we re-checked our counts. And we’re waiting for Waleed’s sign-off on missing values. Evidence is in the notebook, the cleaning log and the commit history; I can show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insight to finish. About 1 in 7 loans with a known outcome is in default: 116,710 out of 836,042, so 14%. That’s a snapshot that includes loans still running, so the final default rate will likely be a bit higher; that’s why we also use the 12-month default rate. And the missing data isn’t random: 40% of loans have no risk rating and 32% have no income, mostly older loans. So when we compare default by rating or income, we’re really describing more recent lending, and we’ll say that clearly in our results.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31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0881"/>
            <a:ext cx="10566400" cy="408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31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0881"/>
            <a:ext cx="10566400" cy="408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2A65A"/>
                </a:solidFill>
                <a:latin typeface="IBM Plex Sans" pitchFamily="34" charset="0"/>
                <a:ea typeface="IBM Plex Sans" pitchFamily="34" charset="-122"/>
                <a:cs typeface="IBM Plex Sans" pitchFamily="34" charset="-120"/>
              </a:rPr>
              <a:t>CAPSTONE · STANDUP 1</a:t>
            </a:r>
            <a:endParaRPr lang="en-US" sz="1400" dirty="0"/>
          </a:p>
        </p:txBody>
      </p:sp>
      <p:sp>
        <p:nvSpPr>
          <p:cNvPr id="3" name="Text 1"/>
          <p:cNvSpPr/>
          <p:nvPr>
            <p:ph type="title"/>
          </p:nvPr>
        </p:nvSpPr>
        <p:spPr>
          <a:xfrm>
            <a:off x="812800" y="230251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4EE"/>
                </a:solidFill>
                <a:latin typeface="Source Serif 4" pitchFamily="18" charset="0"/>
                <a:ea typeface="Source Serif 4" pitchFamily="18" charset="-122"/>
                <a:cs typeface="Source Serif 4" pitchFamily="18" charset="-120"/>
              </a:rPr>
              <a:t>Credit risk in Bondora’s loan portfolio</a:t>
            </a:r>
            <a:endParaRPr lang="en-US" sz="6000" dirty="0"/>
          </a:p>
        </p:txBody>
      </p:sp>
      <p:sp>
        <p:nvSpPr>
          <p:cNvPr id="4" name="Text 2"/>
          <p:cNvSpPr/>
          <p:nvPr/>
        </p:nvSpPr>
        <p:spPr>
          <a:xfrm>
            <a:off x="812800" y="4156710"/>
            <a:ext cx="10883392" cy="38862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2D6"/>
                </a:solidFill>
                <a:latin typeface="IBM Plex Sans" pitchFamily="34" charset="0"/>
                <a:ea typeface="IBM Plex Sans" pitchFamily="34" charset="-122"/>
                <a:cs typeface="IBM Plex Sans" pitchFamily="34" charset="-120"/>
              </a:rPr>
              <a:t>Which borrowers and loans are most likely to default?</a:t>
            </a:r>
            <a:endParaRPr lang="en-US" sz="2200" dirty="0"/>
          </a:p>
        </p:txBody>
      </p:sp>
      <p:sp>
        <p:nvSpPr>
          <p:cNvPr id="5" name="Text 3"/>
          <p:cNvSpPr/>
          <p:nvPr/>
        </p:nvSpPr>
        <p:spPr>
          <a:xfrm>
            <a:off x="812800" y="5760720"/>
            <a:ext cx="3286506"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4EE"/>
                </a:solidFill>
                <a:latin typeface="IBM Plex Sans" pitchFamily="34" charset="0"/>
                <a:ea typeface="IBM Plex Sans" pitchFamily="34" charset="-122"/>
                <a:cs typeface="IBM Plex Sans" pitchFamily="34" charset="-120"/>
              </a:rPr>
              <a:t>Srinidhi Gokul · Mang Chin Par</a:t>
            </a:r>
            <a:endParaRPr lang="en-US" sz="1600" dirty="0"/>
          </a:p>
        </p:txBody>
      </p:sp>
      <p:sp>
        <p:nvSpPr>
          <p:cNvPr id="6" name="Text 4"/>
          <p:cNvSpPr/>
          <p:nvPr/>
        </p:nvSpPr>
        <p:spPr>
          <a:xfrm>
            <a:off x="9504966" y="5760720"/>
            <a:ext cx="1874234" cy="309880"/>
          </a:xfrm>
          <a:prstGeom prst="rect">
            <a:avLst/>
          </a:prstGeom>
          <a:noFill/>
          <a:ln/>
        </p:spPr>
        <p:txBody>
          <a:bodyPr wrap="square" lIns="0" tIns="0" rIns="0" bIns="0" rtlCol="0" anchor="t">
            <a:normAutofit/>
          </a:bodyPr>
          <a:lstStyle/>
          <a:p>
            <a:pPr algn="r" indent="0" marL="0">
              <a:lnSpc>
                <a:spcPts val="2240"/>
              </a:lnSpc>
              <a:buNone/>
            </a:pPr>
            <a:r>
              <a:rPr lang="en-US" sz="1600" dirty="0">
                <a:solidFill>
                  <a:srgbClr val="B9C2D6"/>
                </a:solidFill>
                <a:latin typeface="IBM Plex Sans" pitchFamily="34" charset="0"/>
                <a:ea typeface="IBM Plex Sans" pitchFamily="34" charset="-122"/>
                <a:cs typeface="IBM Plex Sans" pitchFamily="34" charset="-120"/>
              </a:rPr>
              <a:t>29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B4501A"/>
                </a:solidFill>
                <a:latin typeface="IBM Plex Sans" pitchFamily="34" charset="0"/>
                <a:ea typeface="IBM Plex Sans" pitchFamily="34" charset="-122"/>
                <a:cs typeface="IBM Plex Sans" pitchFamily="34" charset="-120"/>
              </a:rPr>
              <a:t>PROBLEM STATEMENT</a:t>
            </a:r>
            <a:endParaRPr lang="en-US" sz="1200" dirty="0"/>
          </a:p>
        </p:txBody>
      </p:sp>
      <p:sp>
        <p:nvSpPr>
          <p:cNvPr id="3" name="Text 1"/>
          <p:cNvSpPr/>
          <p:nvPr>
            <p:ph type="title"/>
          </p:nvPr>
        </p:nvSpPr>
        <p:spPr>
          <a:xfrm>
            <a:off x="812800" y="1153160"/>
            <a:ext cx="11379200"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When borrowers default, investors lose money</a:t>
            </a:r>
            <a:endParaRPr lang="en-US" sz="3600" dirty="0"/>
          </a:p>
        </p:txBody>
      </p:sp>
      <p:sp>
        <p:nvSpPr>
          <p:cNvPr id="4" name="Text 2"/>
          <p:cNvSpPr/>
          <p:nvPr/>
        </p:nvSpPr>
        <p:spPr>
          <a:xfrm>
            <a:off x="812800" y="2011680"/>
            <a:ext cx="5232400" cy="90932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A5568"/>
                </a:solidFill>
                <a:latin typeface="IBM Plex Sans" pitchFamily="34" charset="0"/>
                <a:ea typeface="IBM Plex Sans" pitchFamily="34" charset="-122"/>
                <a:cs typeface="IBM Plex Sans" pitchFamily="34" charset="-120"/>
              </a:rPr>
              <a:t>Bondora (now Go &amp; Grow) is a European peer-to-peer lending platform. Borrowers apply online, and their loans are funded by investors rather than a bank.</a:t>
            </a:r>
            <a:endParaRPr lang="en-US" sz="1600" dirty="0"/>
          </a:p>
        </p:txBody>
      </p:sp>
      <p:sp>
        <p:nvSpPr>
          <p:cNvPr id="5" name="Text 3"/>
          <p:cNvSpPr/>
          <p:nvPr/>
        </p:nvSpPr>
        <p:spPr>
          <a:xfrm>
            <a:off x="812800" y="3073400"/>
            <a:ext cx="5232400"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4A5568"/>
                </a:solidFill>
                <a:latin typeface="IBM Plex Sans" pitchFamily="34" charset="0"/>
                <a:ea typeface="IBM Plex Sans" pitchFamily="34" charset="-122"/>
                <a:cs typeface="IBM Plex Sans" pitchFamily="34" charset="-120"/>
              </a:rPr>
              <a:t>Every default is a direct loss for those investors, so spotting risky borrowers and loans early matters.</a:t>
            </a:r>
            <a:endParaRPr lang="en-US" sz="1600" dirty="0"/>
          </a:p>
        </p:txBody>
      </p:sp>
      <p:sp>
        <p:nvSpPr>
          <p:cNvPr id="6" name="Shape 4"/>
          <p:cNvSpPr/>
          <p:nvPr/>
        </p:nvSpPr>
        <p:spPr>
          <a:xfrm>
            <a:off x="6299200" y="2011680"/>
            <a:ext cx="5080000" cy="2893060"/>
          </a:xfrm>
          <a:prstGeom prst="roundRect">
            <a:avLst>
              <a:gd name="adj" fmla="val 3512"/>
            </a:avLst>
          </a:prstGeom>
          <a:solidFill>
            <a:srgbClr val="14213D"/>
          </a:solidFill>
          <a:ln/>
        </p:spPr>
      </p:sp>
      <p:sp>
        <p:nvSpPr>
          <p:cNvPr id="7" name="Text 5"/>
          <p:cNvSpPr/>
          <p:nvPr/>
        </p:nvSpPr>
        <p:spPr>
          <a:xfrm>
            <a:off x="6654800" y="2367280"/>
            <a:ext cx="4499864"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65A"/>
                </a:solidFill>
                <a:latin typeface="IBM Plex Sans" pitchFamily="34" charset="0"/>
                <a:ea typeface="IBM Plex Sans" pitchFamily="34" charset="-122"/>
                <a:cs typeface="IBM Plex Sans" pitchFamily="34" charset="-120"/>
              </a:rPr>
              <a:t>RESEARCH QUESTION</a:t>
            </a:r>
            <a:endParaRPr lang="en-US" sz="1200" dirty="0"/>
          </a:p>
        </p:txBody>
      </p:sp>
      <p:sp>
        <p:nvSpPr>
          <p:cNvPr id="8" name="Text 6"/>
          <p:cNvSpPr/>
          <p:nvPr/>
        </p:nvSpPr>
        <p:spPr>
          <a:xfrm>
            <a:off x="6654800" y="2733040"/>
            <a:ext cx="4499864" cy="184150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F6F4EE"/>
                </a:solidFill>
                <a:latin typeface="Source Serif 4" pitchFamily="18" charset="0"/>
                <a:ea typeface="Source Serif 4" pitchFamily="18" charset="-122"/>
                <a:cs typeface="Source Serif 4" pitchFamily="18" charset="-120"/>
              </a:rPr>
              <a:t>Which borrower and loan characteristics are associated with default, and how can this improve credit-risk assessment and loan monitoring?</a:t>
            </a:r>
            <a:endParaRPr lang="en-US" sz="2200" dirty="0"/>
          </a:p>
        </p:txBody>
      </p:sp>
      <p:sp>
        <p:nvSpPr>
          <p:cNvPr id="9" name="Text 7"/>
          <p:cNvSpPr/>
          <p:nvPr/>
        </p:nvSpPr>
        <p:spPr>
          <a:xfrm>
            <a:off x="812800" y="6238241"/>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10" name="Text 8"/>
          <p:cNvSpPr/>
          <p:nvPr/>
        </p:nvSpPr>
        <p:spPr>
          <a:xfrm>
            <a:off x="11236960" y="6238241"/>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B4501A"/>
                </a:solidFill>
                <a:latin typeface="IBM Plex Sans" pitchFamily="34" charset="0"/>
                <a:ea typeface="IBM Plex Sans" pitchFamily="34" charset="-122"/>
                <a:cs typeface="IBM Plex Sans" pitchFamily="34" charset="-120"/>
              </a:rPr>
              <a:t>STAKEHOLDERS</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Who uses the answer</a:t>
            </a:r>
            <a:endParaRPr lang="en-US" sz="3600" dirty="0"/>
          </a:p>
        </p:txBody>
      </p:sp>
      <p:sp>
        <p:nvSpPr>
          <p:cNvPr id="4" name="Shape 2"/>
          <p:cNvSpPr/>
          <p:nvPr/>
        </p:nvSpPr>
        <p:spPr>
          <a:xfrm>
            <a:off x="815975" y="2014855"/>
            <a:ext cx="5175250" cy="1410970"/>
          </a:xfrm>
          <a:prstGeom prst="roundRect">
            <a:avLst>
              <a:gd name="adj" fmla="val 6976"/>
            </a:avLst>
          </a:prstGeom>
          <a:solidFill>
            <a:srgbClr val="FFFDF8"/>
          </a:solidFill>
          <a:ln w="6350">
            <a:solidFill>
              <a:srgbClr val="DDD7C8"/>
            </a:solidFill>
            <a:prstDash val="solid"/>
          </a:ln>
        </p:spPr>
      </p:sp>
      <p:pic>
        <p:nvPicPr>
          <p:cNvPr id="5" name="Image 0" descr="Chart">    </p:cNvPr>
          <p:cNvPicPr>
            <a:picLocks noChangeAspect="1"/>
          </p:cNvPicPr>
          <p:nvPr/>
        </p:nvPicPr>
        <p:blipFill>
          <a:blip r:embed="rId1"/>
          <a:srcRect l="0" r="0" t="0" b="0"/>
          <a:stretch/>
        </p:blipFill>
        <p:spPr>
          <a:xfrm>
            <a:off x="1097280" y="2296161"/>
            <a:ext cx="355600" cy="355600"/>
          </a:xfrm>
          <a:prstGeom prst="rect">
            <a:avLst/>
          </a:prstGeom>
        </p:spPr>
      </p:pic>
      <p:sp>
        <p:nvSpPr>
          <p:cNvPr id="6" name="Text 3"/>
          <p:cNvSpPr/>
          <p:nvPr/>
        </p:nvSpPr>
        <p:spPr>
          <a:xfrm>
            <a:off x="1656080" y="2296161"/>
            <a:ext cx="353595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Credit-risk team</a:t>
            </a:r>
            <a:endParaRPr lang="en-US" sz="1800" dirty="0"/>
          </a:p>
        </p:txBody>
      </p:sp>
      <p:sp>
        <p:nvSpPr>
          <p:cNvPr id="7" name="Text 4"/>
          <p:cNvSpPr/>
          <p:nvPr/>
        </p:nvSpPr>
        <p:spPr>
          <a:xfrm>
            <a:off x="1656080" y="2646680"/>
            <a:ext cx="411956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Better rules for approving and pricing loans</a:t>
            </a:r>
            <a:endParaRPr lang="en-US" sz="1400" dirty="0"/>
          </a:p>
        </p:txBody>
      </p:sp>
      <p:sp>
        <p:nvSpPr>
          <p:cNvPr id="8" name="Shape 5"/>
          <p:cNvSpPr/>
          <p:nvPr/>
        </p:nvSpPr>
        <p:spPr>
          <a:xfrm>
            <a:off x="6200775" y="2014855"/>
            <a:ext cx="5175250" cy="1410970"/>
          </a:xfrm>
          <a:prstGeom prst="roundRect">
            <a:avLst>
              <a:gd name="adj" fmla="val 6976"/>
            </a:avLst>
          </a:prstGeom>
          <a:solidFill>
            <a:srgbClr val="FFFDF8"/>
          </a:solidFill>
          <a:ln w="6350">
            <a:solidFill>
              <a:srgbClr val="DDD7C8"/>
            </a:solidFill>
            <a:prstDash val="solid"/>
          </a:ln>
        </p:spPr>
      </p:sp>
      <p:pic>
        <p:nvPicPr>
          <p:cNvPr id="9" name="Image 1" descr="Trust">    </p:cNvPr>
          <p:cNvPicPr>
            <a:picLocks noChangeAspect="1"/>
          </p:cNvPicPr>
          <p:nvPr/>
        </p:nvPicPr>
        <p:blipFill>
          <a:blip r:embed="rId2"/>
          <a:srcRect l="0" r="0" t="-80" b="-80"/>
          <a:stretch/>
        </p:blipFill>
        <p:spPr>
          <a:xfrm>
            <a:off x="6482080" y="2296161"/>
            <a:ext cx="348694" cy="355600"/>
          </a:xfrm>
          <a:prstGeom prst="rect">
            <a:avLst/>
          </a:prstGeom>
        </p:spPr>
      </p:pic>
      <p:sp>
        <p:nvSpPr>
          <p:cNvPr id="10" name="Text 6"/>
          <p:cNvSpPr/>
          <p:nvPr/>
        </p:nvSpPr>
        <p:spPr>
          <a:xfrm>
            <a:off x="7033975" y="2296161"/>
            <a:ext cx="418256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Investors</a:t>
            </a:r>
            <a:endParaRPr lang="en-US" sz="1800" dirty="0"/>
          </a:p>
        </p:txBody>
      </p:sp>
      <p:sp>
        <p:nvSpPr>
          <p:cNvPr id="11" name="Text 7"/>
          <p:cNvSpPr/>
          <p:nvPr/>
        </p:nvSpPr>
        <p:spPr>
          <a:xfrm>
            <a:off x="7033975" y="2646680"/>
            <a:ext cx="418256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Know which loans carry more risk before they invest</a:t>
            </a:r>
            <a:endParaRPr lang="en-US" sz="1400" dirty="0"/>
          </a:p>
        </p:txBody>
      </p:sp>
      <p:sp>
        <p:nvSpPr>
          <p:cNvPr id="12" name="Shape 8"/>
          <p:cNvSpPr/>
          <p:nvPr/>
        </p:nvSpPr>
        <p:spPr>
          <a:xfrm>
            <a:off x="815975" y="3635375"/>
            <a:ext cx="5175250" cy="1410970"/>
          </a:xfrm>
          <a:prstGeom prst="roundRect">
            <a:avLst>
              <a:gd name="adj" fmla="val 6976"/>
            </a:avLst>
          </a:prstGeom>
          <a:solidFill>
            <a:srgbClr val="FFFDF8"/>
          </a:solidFill>
          <a:ln w="6350">
            <a:solidFill>
              <a:srgbClr val="DDD7C8"/>
            </a:solidFill>
            <a:prstDash val="solid"/>
          </a:ln>
        </p:spPr>
      </p:sp>
      <p:pic>
        <p:nvPicPr>
          <p:cNvPr id="13" name="Image 2" descr="Warning">    </p:cNvPr>
          <p:cNvPicPr>
            <a:picLocks noChangeAspect="1"/>
          </p:cNvPicPr>
          <p:nvPr/>
        </p:nvPicPr>
        <p:blipFill>
          <a:blip r:embed="rId3"/>
          <a:srcRect l="0" r="0" t="-22" b="-22"/>
          <a:stretch/>
        </p:blipFill>
        <p:spPr>
          <a:xfrm>
            <a:off x="1097280" y="3916680"/>
            <a:ext cx="355441" cy="355600"/>
          </a:xfrm>
          <a:prstGeom prst="rect">
            <a:avLst/>
          </a:prstGeom>
        </p:spPr>
      </p:pic>
      <p:sp>
        <p:nvSpPr>
          <p:cNvPr id="14" name="Text 9"/>
          <p:cNvSpPr/>
          <p:nvPr/>
        </p:nvSpPr>
        <p:spPr>
          <a:xfrm>
            <a:off x="1655921" y="3916680"/>
            <a:ext cx="4175619"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Loan monitoring</a:t>
            </a:r>
            <a:endParaRPr lang="en-US" sz="1800" dirty="0"/>
          </a:p>
        </p:txBody>
      </p:sp>
      <p:sp>
        <p:nvSpPr>
          <p:cNvPr id="15" name="Text 10"/>
          <p:cNvSpPr/>
          <p:nvPr/>
        </p:nvSpPr>
        <p:spPr>
          <a:xfrm>
            <a:off x="1655921" y="4267200"/>
            <a:ext cx="4175619"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Early warning signs that a running loan is going bad</a:t>
            </a:r>
            <a:endParaRPr lang="en-US" sz="1400" dirty="0"/>
          </a:p>
        </p:txBody>
      </p:sp>
      <p:sp>
        <p:nvSpPr>
          <p:cNvPr id="16" name="Shape 11"/>
          <p:cNvSpPr/>
          <p:nvPr/>
        </p:nvSpPr>
        <p:spPr>
          <a:xfrm>
            <a:off x="6200775" y="3635375"/>
            <a:ext cx="5175250" cy="1410970"/>
          </a:xfrm>
          <a:prstGeom prst="roundRect">
            <a:avLst>
              <a:gd name="adj" fmla="val 6976"/>
            </a:avLst>
          </a:prstGeom>
          <a:solidFill>
            <a:srgbClr val="FFFDF8"/>
          </a:solidFill>
          <a:ln w="6350">
            <a:solidFill>
              <a:srgbClr val="DDD7C8"/>
            </a:solidFill>
            <a:prstDash val="solid"/>
          </a:ln>
        </p:spPr>
      </p:sp>
      <p:pic>
        <p:nvPicPr>
          <p:cNvPr id="17" name="Image 3" descr="Users">    </p:cNvPr>
          <p:cNvPicPr>
            <a:picLocks noChangeAspect="1"/>
          </p:cNvPicPr>
          <p:nvPr/>
        </p:nvPicPr>
        <p:blipFill>
          <a:blip r:embed="rId4"/>
          <a:srcRect l="0" r="0" t="0" b="0"/>
          <a:stretch/>
        </p:blipFill>
        <p:spPr>
          <a:xfrm>
            <a:off x="6482080" y="3916680"/>
            <a:ext cx="355600" cy="355600"/>
          </a:xfrm>
          <a:prstGeom prst="rect">
            <a:avLst/>
          </a:prstGeom>
        </p:spPr>
      </p:pic>
      <p:sp>
        <p:nvSpPr>
          <p:cNvPr id="18" name="Text 12"/>
          <p:cNvSpPr/>
          <p:nvPr/>
        </p:nvSpPr>
        <p:spPr>
          <a:xfrm>
            <a:off x="7040880" y="3916680"/>
            <a:ext cx="270605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Borrowers (indirect)</a:t>
            </a:r>
            <a:endParaRPr lang="en-US" sz="1800" dirty="0"/>
          </a:p>
        </p:txBody>
      </p:sp>
      <p:sp>
        <p:nvSpPr>
          <p:cNvPr id="19" name="Text 13"/>
          <p:cNvSpPr/>
          <p:nvPr/>
        </p:nvSpPr>
        <p:spPr>
          <a:xfrm>
            <a:off x="7040880" y="4267200"/>
            <a:ext cx="315268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Fair, consistent lending decisions</a:t>
            </a:r>
            <a:endParaRPr lang="en-US" sz="1400" dirty="0"/>
          </a:p>
        </p:txBody>
      </p:sp>
      <p:sp>
        <p:nvSpPr>
          <p:cNvPr id="20" name="Text 14"/>
          <p:cNvSpPr/>
          <p:nvPr/>
        </p:nvSpPr>
        <p:spPr>
          <a:xfrm>
            <a:off x="812800" y="6238241"/>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21" name="Text 15"/>
          <p:cNvSpPr/>
          <p:nvPr/>
        </p:nvSpPr>
        <p:spPr>
          <a:xfrm>
            <a:off x="11236960" y="6238241"/>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B4501A"/>
                </a:solidFill>
                <a:latin typeface="IBM Plex Sans" pitchFamily="34" charset="0"/>
                <a:ea typeface="IBM Plex Sans" pitchFamily="34" charset="-122"/>
                <a:cs typeface="IBM Plex Sans" pitchFamily="34" charset="-120"/>
              </a:rPr>
              <a:t>KPIS</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How we measure risk</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2021840"/>
          <a:ext cx="10556240" cy="2415540"/>
        </p:xfrm>
        <a:graphic>
          <a:graphicData uri="http://schemas.openxmlformats.org/drawingml/2006/table">
            <a:tbl>
              <a:tblPr/>
              <a:tblGrid>
                <a:gridCol w="2955747"/>
                <a:gridCol w="4433621"/>
                <a:gridCol w="3166872"/>
              </a:tblGrid>
              <a:tr h="383540">
                <a:tc>
                  <a:txBody>
                    <a:bodyPr/>
                    <a:lstStyle/>
                    <a:p>
                      <a:pP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KPI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Definition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Why it matters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83540">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Default rate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Share of loans in default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Main outcome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632460">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12-month default rate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Defaults in a loan’s first year, for loans old enough to measure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Early warning, fair across years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r>
              <a:tr h="632460">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Default rate by segment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By risk rating, country, income, amount, interest rate, duration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Shows which groups drive risk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383540">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Data completeness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Share missing per key column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How far results can be trusted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r>
            </a:tbl>
          </a:graphicData>
        </a:graphic>
      </p:graphicFrame>
      <p:sp>
        <p:nvSpPr>
          <p:cNvPr id="5" name="Text 2"/>
          <p:cNvSpPr/>
          <p:nvPr/>
        </p:nvSpPr>
        <p:spPr>
          <a:xfrm>
            <a:off x="812800" y="6238239"/>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6" name="Text 3"/>
          <p:cNvSpPr/>
          <p:nvPr/>
        </p:nvSpPr>
        <p:spPr>
          <a:xfrm>
            <a:off x="11236960" y="6238239"/>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E6D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A16"/>
                </a:solidFill>
                <a:latin typeface="IBM Plex Sans" pitchFamily="34" charset="0"/>
                <a:ea typeface="IBM Plex Sans" pitchFamily="34" charset="-122"/>
                <a:cs typeface="IBM Plex Sans" pitchFamily="34" charset="-120"/>
              </a:rPr>
              <a:t>DATA SOURCE</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Bondora’s public loan dataset</a:t>
            </a:r>
            <a:endParaRPr lang="en-US" sz="3600" dirty="0"/>
          </a:p>
        </p:txBody>
      </p:sp>
      <p:sp>
        <p:nvSpPr>
          <p:cNvPr id="4" name="Shape 2"/>
          <p:cNvSpPr/>
          <p:nvPr/>
        </p:nvSpPr>
        <p:spPr>
          <a:xfrm>
            <a:off x="812800" y="2011682"/>
            <a:ext cx="3386614" cy="1447800"/>
          </a:xfrm>
          <a:prstGeom prst="roundRect">
            <a:avLst>
              <a:gd name="adj" fmla="val 7018"/>
            </a:avLst>
          </a:prstGeom>
          <a:solidFill>
            <a:srgbClr val="F6F4EE"/>
          </a:solidFill>
          <a:ln/>
        </p:spPr>
      </p:sp>
      <p:sp>
        <p:nvSpPr>
          <p:cNvPr id="5" name="Text 3"/>
          <p:cNvSpPr/>
          <p:nvPr/>
        </p:nvSpPr>
        <p:spPr>
          <a:xfrm>
            <a:off x="1066800" y="2265682"/>
            <a:ext cx="3069620" cy="64008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13D"/>
                </a:solidFill>
                <a:latin typeface="Source Serif 4" pitchFamily="18" charset="0"/>
                <a:ea typeface="Source Serif 4" pitchFamily="18" charset="-122"/>
                <a:cs typeface="Source Serif 4" pitchFamily="18" charset="-120"/>
              </a:rPr>
              <a:t>843,755</a:t>
            </a:r>
            <a:endParaRPr lang="en-US" sz="4400" dirty="0"/>
          </a:p>
        </p:txBody>
      </p:sp>
      <p:sp>
        <p:nvSpPr>
          <p:cNvPr id="6" name="Text 4"/>
          <p:cNvSpPr/>
          <p:nvPr/>
        </p:nvSpPr>
        <p:spPr>
          <a:xfrm>
            <a:off x="1066800" y="2956561"/>
            <a:ext cx="306962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loans, one row each</a:t>
            </a:r>
            <a:endParaRPr lang="en-US" sz="1400" dirty="0"/>
          </a:p>
        </p:txBody>
      </p:sp>
      <p:sp>
        <p:nvSpPr>
          <p:cNvPr id="7" name="Shape 5"/>
          <p:cNvSpPr/>
          <p:nvPr/>
        </p:nvSpPr>
        <p:spPr>
          <a:xfrm>
            <a:off x="4402614" y="2011682"/>
            <a:ext cx="3386693" cy="1447800"/>
          </a:xfrm>
          <a:prstGeom prst="roundRect">
            <a:avLst>
              <a:gd name="adj" fmla="val 7018"/>
            </a:avLst>
          </a:prstGeom>
          <a:solidFill>
            <a:srgbClr val="F6F4EE"/>
          </a:solidFill>
          <a:ln/>
        </p:spPr>
      </p:sp>
      <p:sp>
        <p:nvSpPr>
          <p:cNvPr id="8" name="Text 6"/>
          <p:cNvSpPr/>
          <p:nvPr/>
        </p:nvSpPr>
        <p:spPr>
          <a:xfrm>
            <a:off x="4656614" y="2265682"/>
            <a:ext cx="3069702" cy="64008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13D"/>
                </a:solidFill>
                <a:latin typeface="Source Serif 4" pitchFamily="18" charset="0"/>
                <a:ea typeface="Source Serif 4" pitchFamily="18" charset="-122"/>
                <a:cs typeface="Source Serif 4" pitchFamily="18" charset="-120"/>
              </a:rPr>
              <a:t>22</a:t>
            </a:r>
            <a:endParaRPr lang="en-US" sz="4400" dirty="0"/>
          </a:p>
        </p:txBody>
      </p:sp>
      <p:sp>
        <p:nvSpPr>
          <p:cNvPr id="9" name="Text 7"/>
          <p:cNvSpPr/>
          <p:nvPr/>
        </p:nvSpPr>
        <p:spPr>
          <a:xfrm>
            <a:off x="4656614" y="2956561"/>
            <a:ext cx="306970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columns in five groups</a:t>
            </a:r>
            <a:endParaRPr lang="en-US" sz="1400" dirty="0"/>
          </a:p>
        </p:txBody>
      </p:sp>
      <p:sp>
        <p:nvSpPr>
          <p:cNvPr id="10" name="Shape 8"/>
          <p:cNvSpPr/>
          <p:nvPr/>
        </p:nvSpPr>
        <p:spPr>
          <a:xfrm>
            <a:off x="7992507" y="2011682"/>
            <a:ext cx="3386693" cy="1447800"/>
          </a:xfrm>
          <a:prstGeom prst="roundRect">
            <a:avLst>
              <a:gd name="adj" fmla="val 7018"/>
            </a:avLst>
          </a:prstGeom>
          <a:solidFill>
            <a:srgbClr val="F6F4EE"/>
          </a:solidFill>
          <a:ln/>
        </p:spPr>
      </p:sp>
      <p:sp>
        <p:nvSpPr>
          <p:cNvPr id="11" name="Text 9"/>
          <p:cNvSpPr/>
          <p:nvPr/>
        </p:nvSpPr>
        <p:spPr>
          <a:xfrm>
            <a:off x="8246507" y="2265682"/>
            <a:ext cx="3069702" cy="64008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13D"/>
                </a:solidFill>
                <a:latin typeface="Source Serif 4" pitchFamily="18" charset="0"/>
                <a:ea typeface="Source Serif 4" pitchFamily="18" charset="-122"/>
                <a:cs typeface="Source Serif 4" pitchFamily="18" charset="-120"/>
              </a:rPr>
              <a:t>2009–2026</a:t>
            </a:r>
            <a:endParaRPr lang="en-US" sz="4400" dirty="0"/>
          </a:p>
        </p:txBody>
      </p:sp>
      <p:sp>
        <p:nvSpPr>
          <p:cNvPr id="12" name="Text 10"/>
          <p:cNvSpPr/>
          <p:nvPr/>
        </p:nvSpPr>
        <p:spPr>
          <a:xfrm>
            <a:off x="8246507" y="2956561"/>
            <a:ext cx="306970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loan issue dates</a:t>
            </a:r>
            <a:endParaRPr lang="en-US" sz="1400" dirty="0"/>
          </a:p>
        </p:txBody>
      </p:sp>
      <p:sp>
        <p:nvSpPr>
          <p:cNvPr id="13" name="Text 11"/>
          <p:cNvSpPr/>
          <p:nvPr/>
        </p:nvSpPr>
        <p:spPr>
          <a:xfrm>
            <a:off x="812800" y="3815082"/>
            <a:ext cx="10883392" cy="614680"/>
          </a:xfrm>
          <a:prstGeom prst="rect">
            <a:avLst/>
          </a:prstGeom>
          <a:noFill/>
          <a:ln/>
        </p:spPr>
        <p:txBody>
          <a:bodyPr wrap="square" lIns="0" tIns="0" rIns="0" bIns="0" rtlCol="0" anchor="t">
            <a:normAutofit/>
          </a:bodyPr>
          <a:lstStyle/>
          <a:p>
            <a:pPr algn="l" indent="0" marL="0">
              <a:lnSpc>
                <a:spcPts val="2320"/>
              </a:lnSpc>
              <a:buNone/>
            </a:pPr>
            <a:r>
              <a:rPr lang="en-US" sz="1600" b="1" dirty="0">
                <a:solidFill>
                  <a:srgbClr val="14213D"/>
                </a:solidFill>
                <a:latin typeface="IBM Plex Sans" pitchFamily="34" charset="0"/>
                <a:ea typeface="IBM Plex Sans" pitchFamily="34" charset="-122"/>
                <a:cs typeface="IBM Plex Sans" pitchFamily="34" charset="-120"/>
              </a:rPr>
              <a:t>Source:</a:t>
            </a:r>
            <a:r>
              <a:rPr lang="en-US" sz="1600" dirty="0">
                <a:solidFill>
                  <a:srgbClr val="14213D"/>
                </a:solidFill>
                <a:latin typeface="IBM Plex Sans" pitchFamily="34" charset="0"/>
                <a:ea typeface="IBM Plex Sans" pitchFamily="34" charset="-122"/>
                <a:cs typeface="IBM Plex Sans" pitchFamily="34" charset="-120"/>
              </a:rPr>
              <a:t> Go &amp; Grow public statistics page, file </a:t>
            </a:r>
            <a:r>
              <a:rPr lang="en-US" sz="1600" i="1" dirty="0">
                <a:solidFill>
                  <a:srgbClr val="14213D"/>
                </a:solidFill>
                <a:latin typeface="IBM Plex Sans" pitchFamily="34" charset="0"/>
                <a:ea typeface="IBM Plex Sans" pitchFamily="34" charset="-122"/>
                <a:cs typeface="IBM Plex Sans" pitchFamily="34" charset="-120"/>
              </a:rPr>
              <a:t>loan_dataset_investor.xlsx</a:t>
            </a:r>
            <a:r>
              <a:rPr lang="en-US" sz="1600" dirty="0">
                <a:solidFill>
                  <a:srgbClr val="14213D"/>
                </a:solidFill>
                <a:latin typeface="IBM Plex Sans" pitchFamily="34" charset="0"/>
                <a:ea typeface="IBM Plex Sans" pitchFamily="34" charset="-122"/>
                <a:cs typeface="IBM Plex Sans" pitchFamily="34" charset="-120"/>
              </a:rPr>
              <a:t> (team’s modified version), with a data dictionary sheet.</a:t>
            </a:r>
            <a:endParaRPr lang="en-US" sz="1600" dirty="0"/>
          </a:p>
        </p:txBody>
      </p:sp>
      <p:sp>
        <p:nvSpPr>
          <p:cNvPr id="14" name="Text 12"/>
          <p:cNvSpPr/>
          <p:nvPr/>
        </p:nvSpPr>
        <p:spPr>
          <a:xfrm>
            <a:off x="812800" y="4505961"/>
            <a:ext cx="10883392" cy="320040"/>
          </a:xfrm>
          <a:prstGeom prst="rect">
            <a:avLst/>
          </a:prstGeom>
          <a:noFill/>
          <a:ln/>
        </p:spPr>
        <p:txBody>
          <a:bodyPr wrap="square" lIns="0" tIns="0" rIns="0" bIns="0" rtlCol="0" anchor="t">
            <a:normAutofit/>
          </a:bodyPr>
          <a:lstStyle/>
          <a:p>
            <a:pPr algn="l" indent="0" marL="0">
              <a:lnSpc>
                <a:spcPts val="2320"/>
              </a:lnSpc>
              <a:buNone/>
            </a:pPr>
            <a:r>
              <a:rPr lang="en-US" sz="1600" b="1" dirty="0">
                <a:solidFill>
                  <a:srgbClr val="14213D"/>
                </a:solidFill>
                <a:latin typeface="IBM Plex Sans" pitchFamily="34" charset="0"/>
                <a:ea typeface="IBM Plex Sans" pitchFamily="34" charset="-122"/>
                <a:cs typeface="IBM Plex Sans" pitchFamily="34" charset="-120"/>
              </a:rPr>
              <a:t>Groups:</a:t>
            </a:r>
            <a:r>
              <a:rPr lang="en-US" sz="1600" dirty="0">
                <a:solidFill>
                  <a:srgbClr val="4A5568"/>
                </a:solidFill>
                <a:latin typeface="IBM Plex Sans" pitchFamily="34" charset="0"/>
                <a:ea typeface="IBM Plex Sans" pitchFamily="34" charset="-122"/>
                <a:cs typeface="IBM Plex Sans" pitchFamily="34" charset="-120"/>
              </a:rPr>
              <a:t> borrower · loan terms · timing · repayment · default outcomes</a:t>
            </a:r>
            <a:endParaRPr lang="en-US" sz="1600" dirty="0"/>
          </a:p>
        </p:txBody>
      </p:sp>
      <p:sp>
        <p:nvSpPr>
          <p:cNvPr id="15" name="Text 13"/>
          <p:cNvSpPr/>
          <p:nvPr/>
        </p:nvSpPr>
        <p:spPr>
          <a:xfrm>
            <a:off x="812800" y="6238239"/>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16" name="Text 14"/>
          <p:cNvSpPr/>
          <p:nvPr/>
        </p:nvSpPr>
        <p:spPr>
          <a:xfrm>
            <a:off x="11236960" y="6238239"/>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E6D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A16"/>
                </a:solidFill>
                <a:latin typeface="IBM Plex Sans" pitchFamily="34" charset="0"/>
                <a:ea typeface="IBM Plex Sans" pitchFamily="34" charset="-122"/>
                <a:cs typeface="IBM Plex Sans" pitchFamily="34" charset="-120"/>
              </a:rPr>
              <a:t>PIPELINE DRAFT</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From raw Excel to recommendations</a:t>
            </a:r>
            <a:endParaRPr lang="en-US" sz="3600" dirty="0"/>
          </a:p>
        </p:txBody>
      </p:sp>
      <p:sp>
        <p:nvSpPr>
          <p:cNvPr id="4" name="Shape 2"/>
          <p:cNvSpPr/>
          <p:nvPr/>
        </p:nvSpPr>
        <p:spPr>
          <a:xfrm>
            <a:off x="812800" y="1960882"/>
            <a:ext cx="3386614" cy="1384300"/>
          </a:xfrm>
          <a:prstGeom prst="roundRect">
            <a:avLst>
              <a:gd name="adj" fmla="val 7339"/>
            </a:avLst>
          </a:prstGeom>
          <a:solidFill>
            <a:srgbClr val="F6F4EE"/>
          </a:solidFill>
          <a:ln/>
        </p:spPr>
      </p:sp>
      <p:sp>
        <p:nvSpPr>
          <p:cNvPr id="5" name="Shape 3"/>
          <p:cNvSpPr/>
          <p:nvPr/>
        </p:nvSpPr>
        <p:spPr>
          <a:xfrm>
            <a:off x="812800" y="1960882"/>
            <a:ext cx="3386614" cy="1384300"/>
          </a:xfrm>
          <a:custGeom>
            <a:avLst/>
            <a:gdLst/>
            <a:ahLst/>
            <a:cxnLst/>
            <a:rect l="l" t="t" r="r" b="b"/>
            <a:pathLst>
              <a:path w="3386614" h="1384300">
                <a:moveTo>
                  <a:pt x="0" y="101600"/>
                </a:moveTo>
                <a:lnTo>
                  <a:pt x="0" y="101600"/>
                </a:lnTo>
                <a:arcTo hR="101600" wR="101600" stAng="10800000" swAng="5400000"/>
                <a:lnTo>
                  <a:pt x="3285014" y="0"/>
                </a:lnTo>
                <a:arcTo hR="101600" wR="101600" stAng="16200000" swAng="5400000"/>
                <a:lnTo>
                  <a:pt x="3386614" y="101600"/>
                </a:lnTo>
                <a:arcTo hR="50800" wR="101600" stAng="0" swAng="-5400000"/>
                <a:lnTo>
                  <a:pt x="101600" y="50800"/>
                </a:lnTo>
                <a:arcTo hR="50800" wR="101600" stAng="16200000" swAng="-5400000"/>
                <a:close/>
              </a:path>
            </a:pathLst>
          </a:custGeom>
          <a:solidFill>
            <a:srgbClr val="14213D"/>
          </a:solidFill>
          <a:ln/>
        </p:spPr>
      </p:sp>
      <p:sp>
        <p:nvSpPr>
          <p:cNvPr id="6" name="Text 4"/>
          <p:cNvSpPr/>
          <p:nvPr/>
        </p:nvSpPr>
        <p:spPr>
          <a:xfrm>
            <a:off x="1041400" y="2247900"/>
            <a:ext cx="1002411"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1 · Load</a:t>
            </a:r>
            <a:endParaRPr lang="en-US" sz="1800" dirty="0"/>
          </a:p>
        </p:txBody>
      </p:sp>
      <p:sp>
        <p:nvSpPr>
          <p:cNvPr id="7" name="Text 5"/>
          <p:cNvSpPr/>
          <p:nvPr/>
        </p:nvSpPr>
        <p:spPr>
          <a:xfrm>
            <a:off x="3376692" y="2240282"/>
            <a:ext cx="594122" cy="289560"/>
          </a:xfrm>
          <a:custGeom>
            <a:avLst/>
            <a:gdLst/>
            <a:ahLst/>
            <a:cxnLst/>
            <a:rect l="l" t="t" r="r" b="b"/>
            <a:pathLst>
              <a:path w="594122" h="289560">
                <a:moveTo>
                  <a:pt x="144780" y="0"/>
                </a:moveTo>
                <a:lnTo>
                  <a:pt x="449342" y="0"/>
                </a:lnTo>
                <a:arcTo hR="144780" wR="144780" stAng="16200000" swAng="5400000"/>
                <a:lnTo>
                  <a:pt x="594122" y="144780"/>
                </a:lnTo>
                <a:arcTo hR="144780" wR="144780" stAng="0" swAng="5400000"/>
                <a:lnTo>
                  <a:pt x="144780" y="289560"/>
                </a:lnTo>
                <a:arcTo hR="144780" wR="144780" stAng="5400000" swAng="5400000"/>
                <a:lnTo>
                  <a:pt x="0" y="144780"/>
                </a:lnTo>
                <a:arcTo hR="144780" wR="144780" stAng="10800000" swAng="5400000"/>
                <a:close/>
              </a:path>
            </a:pathLst>
          </a:cu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4EE"/>
                </a:solidFill>
                <a:latin typeface="IBM Plex Sans" pitchFamily="34" charset="0"/>
                <a:ea typeface="IBM Plex Sans" pitchFamily="34" charset="-122"/>
                <a:cs typeface="IBM Plex Sans" pitchFamily="34" charset="-120"/>
              </a:rPr>
              <a:t>Done</a:t>
            </a:r>
            <a:endParaRPr lang="en-US" sz="1200" dirty="0"/>
          </a:p>
        </p:txBody>
      </p:sp>
      <p:sp>
        <p:nvSpPr>
          <p:cNvPr id="8" name="Text 6"/>
          <p:cNvSpPr/>
          <p:nvPr/>
        </p:nvSpPr>
        <p:spPr>
          <a:xfrm>
            <a:off x="1041400" y="2618739"/>
            <a:ext cx="301729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Read Excel with pandas, save as Parquet for fast reloads</a:t>
            </a:r>
            <a:endParaRPr lang="en-US" sz="1400" dirty="0"/>
          </a:p>
        </p:txBody>
      </p:sp>
      <p:sp>
        <p:nvSpPr>
          <p:cNvPr id="9" name="Shape 7"/>
          <p:cNvSpPr/>
          <p:nvPr/>
        </p:nvSpPr>
        <p:spPr>
          <a:xfrm>
            <a:off x="4402614" y="1960882"/>
            <a:ext cx="3386693" cy="1384300"/>
          </a:xfrm>
          <a:prstGeom prst="roundRect">
            <a:avLst>
              <a:gd name="adj" fmla="val 7339"/>
            </a:avLst>
          </a:prstGeom>
          <a:solidFill>
            <a:srgbClr val="F6F4EE"/>
          </a:solidFill>
          <a:ln/>
        </p:spPr>
      </p:sp>
      <p:sp>
        <p:nvSpPr>
          <p:cNvPr id="10" name="Shape 8"/>
          <p:cNvSpPr/>
          <p:nvPr/>
        </p:nvSpPr>
        <p:spPr>
          <a:xfrm>
            <a:off x="4402614" y="1960882"/>
            <a:ext cx="3386693" cy="1384300"/>
          </a:xfrm>
          <a:custGeom>
            <a:avLst/>
            <a:gdLst/>
            <a:ahLst/>
            <a:cxnLst/>
            <a:rect l="l" t="t" r="r" b="b"/>
            <a:pathLst>
              <a:path w="3386693" h="138430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14213D"/>
          </a:solidFill>
          <a:ln/>
        </p:spPr>
      </p:sp>
      <p:sp>
        <p:nvSpPr>
          <p:cNvPr id="11" name="Text 9"/>
          <p:cNvSpPr/>
          <p:nvPr/>
        </p:nvSpPr>
        <p:spPr>
          <a:xfrm>
            <a:off x="4631214" y="2247900"/>
            <a:ext cx="113823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2 · Types</a:t>
            </a:r>
            <a:endParaRPr lang="en-US" sz="1800" dirty="0"/>
          </a:p>
        </p:txBody>
      </p:sp>
      <p:sp>
        <p:nvSpPr>
          <p:cNvPr id="12" name="Text 10"/>
          <p:cNvSpPr/>
          <p:nvPr/>
        </p:nvSpPr>
        <p:spPr>
          <a:xfrm>
            <a:off x="6966585" y="2240282"/>
            <a:ext cx="594122" cy="289560"/>
          </a:xfrm>
          <a:custGeom>
            <a:avLst/>
            <a:gdLst/>
            <a:ahLst/>
            <a:cxnLst/>
            <a:rect l="l" t="t" r="r" b="b"/>
            <a:pathLst>
              <a:path w="594122" h="289560">
                <a:moveTo>
                  <a:pt x="144780" y="0"/>
                </a:moveTo>
                <a:lnTo>
                  <a:pt x="449342" y="0"/>
                </a:lnTo>
                <a:arcTo hR="144780" wR="144780" stAng="16200000" swAng="5400000"/>
                <a:lnTo>
                  <a:pt x="594122" y="144780"/>
                </a:lnTo>
                <a:arcTo hR="144780" wR="144780" stAng="0" swAng="5400000"/>
                <a:lnTo>
                  <a:pt x="144780" y="289560"/>
                </a:lnTo>
                <a:arcTo hR="144780" wR="144780" stAng="5400000" swAng="5400000"/>
                <a:lnTo>
                  <a:pt x="0" y="144780"/>
                </a:lnTo>
                <a:arcTo hR="144780" wR="144780" stAng="10800000" swAng="5400000"/>
                <a:close/>
              </a:path>
            </a:pathLst>
          </a:cu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4EE"/>
                </a:solidFill>
                <a:latin typeface="IBM Plex Sans" pitchFamily="34" charset="0"/>
                <a:ea typeface="IBM Plex Sans" pitchFamily="34" charset="-122"/>
                <a:cs typeface="IBM Plex Sans" pitchFamily="34" charset="-120"/>
              </a:rPr>
              <a:t>Done</a:t>
            </a:r>
            <a:endParaRPr lang="en-US" sz="1200" dirty="0"/>
          </a:p>
        </p:txBody>
      </p:sp>
      <p:sp>
        <p:nvSpPr>
          <p:cNvPr id="13" name="Text 11"/>
          <p:cNvSpPr/>
          <p:nvPr/>
        </p:nvSpPr>
        <p:spPr>
          <a:xfrm>
            <a:off x="4631214" y="2618739"/>
            <a:ext cx="301737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Categories, 0/1 flags, ordered rating AA → HR</a:t>
            </a:r>
            <a:endParaRPr lang="en-US" sz="1400" dirty="0"/>
          </a:p>
        </p:txBody>
      </p:sp>
      <p:sp>
        <p:nvSpPr>
          <p:cNvPr id="14" name="Shape 12"/>
          <p:cNvSpPr/>
          <p:nvPr/>
        </p:nvSpPr>
        <p:spPr>
          <a:xfrm>
            <a:off x="7992507" y="1960882"/>
            <a:ext cx="3386693" cy="1384300"/>
          </a:xfrm>
          <a:prstGeom prst="roundRect">
            <a:avLst>
              <a:gd name="adj" fmla="val 7339"/>
            </a:avLst>
          </a:prstGeom>
          <a:solidFill>
            <a:srgbClr val="F6F4EE"/>
          </a:solidFill>
          <a:ln/>
        </p:spPr>
      </p:sp>
      <p:sp>
        <p:nvSpPr>
          <p:cNvPr id="15" name="Shape 13"/>
          <p:cNvSpPr/>
          <p:nvPr/>
        </p:nvSpPr>
        <p:spPr>
          <a:xfrm>
            <a:off x="7992507" y="1960882"/>
            <a:ext cx="3386693" cy="1384300"/>
          </a:xfrm>
          <a:custGeom>
            <a:avLst/>
            <a:gdLst/>
            <a:ahLst/>
            <a:cxnLst/>
            <a:rect l="l" t="t" r="r" b="b"/>
            <a:pathLst>
              <a:path w="3386693" h="138430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C2571B"/>
          </a:solidFill>
          <a:ln/>
        </p:spPr>
      </p:sp>
      <p:sp>
        <p:nvSpPr>
          <p:cNvPr id="16" name="Text 14"/>
          <p:cNvSpPr/>
          <p:nvPr/>
        </p:nvSpPr>
        <p:spPr>
          <a:xfrm>
            <a:off x="8221107" y="2247900"/>
            <a:ext cx="111433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3 · Clean</a:t>
            </a:r>
            <a:endParaRPr lang="en-US" sz="1800" dirty="0"/>
          </a:p>
        </p:txBody>
      </p:sp>
      <p:sp>
        <p:nvSpPr>
          <p:cNvPr id="17" name="Text 15"/>
          <p:cNvSpPr/>
          <p:nvPr/>
        </p:nvSpPr>
        <p:spPr>
          <a:xfrm>
            <a:off x="10117217" y="2240282"/>
            <a:ext cx="1033383" cy="289560"/>
          </a:xfrm>
          <a:custGeom>
            <a:avLst/>
            <a:gdLst/>
            <a:ahLst/>
            <a:cxnLst/>
            <a:rect l="l" t="t" r="r" b="b"/>
            <a:pathLst>
              <a:path w="1033383" h="289560">
                <a:moveTo>
                  <a:pt x="144780" y="0"/>
                </a:moveTo>
                <a:lnTo>
                  <a:pt x="888603" y="0"/>
                </a:lnTo>
                <a:arcTo hR="144780" wR="144780" stAng="16200000" swAng="5400000"/>
                <a:lnTo>
                  <a:pt x="1033383" y="144780"/>
                </a:lnTo>
                <a:arcTo hR="144780" wR="144780" stAng="0" swAng="5400000"/>
                <a:lnTo>
                  <a:pt x="144780" y="289560"/>
                </a:lnTo>
                <a:arcTo hR="144780" wR="144780" stAng="5400000" swAng="5400000"/>
                <a:lnTo>
                  <a:pt x="0" y="144780"/>
                </a:lnTo>
                <a:arcTo hR="144780" wR="144780" stAng="10800000" swAng="5400000"/>
                <a:close/>
              </a:path>
            </a:pathLst>
          </a:custGeom>
          <a:solidFill>
            <a:srgbClr val="F2A65A"/>
          </a:solidFill>
          <a:ln/>
        </p:spPr>
        <p:txBody>
          <a:bodyPr wrap="none" lIns="0" tIns="0" rIns="0" bIns="0" rtlCol="0" anchor="ctr">
            <a:normAutofit/>
          </a:bodyPr>
          <a:lstStyle/>
          <a:p>
            <a:pPr algn="ct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In progress</a:t>
            </a:r>
            <a:endParaRPr lang="en-US" sz="1200" dirty="0"/>
          </a:p>
        </p:txBody>
      </p:sp>
      <p:sp>
        <p:nvSpPr>
          <p:cNvPr id="18" name="Text 16"/>
          <p:cNvSpPr/>
          <p:nvPr/>
        </p:nvSpPr>
        <p:spPr>
          <a:xfrm>
            <a:off x="8221107" y="2618739"/>
            <a:ext cx="301737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Drop unusable columns, decide on each missing-value case</a:t>
            </a:r>
            <a:endParaRPr lang="en-US" sz="1400" dirty="0"/>
          </a:p>
        </p:txBody>
      </p:sp>
      <p:sp>
        <p:nvSpPr>
          <p:cNvPr id="19" name="Shape 17"/>
          <p:cNvSpPr/>
          <p:nvPr/>
        </p:nvSpPr>
        <p:spPr>
          <a:xfrm>
            <a:off x="812800" y="3548382"/>
            <a:ext cx="3386614" cy="1379220"/>
          </a:xfrm>
          <a:prstGeom prst="roundRect">
            <a:avLst>
              <a:gd name="adj" fmla="val 7366"/>
            </a:avLst>
          </a:prstGeom>
          <a:solidFill>
            <a:srgbClr val="F6F4EE"/>
          </a:solidFill>
          <a:ln/>
        </p:spPr>
      </p:sp>
      <p:sp>
        <p:nvSpPr>
          <p:cNvPr id="20" name="Shape 18"/>
          <p:cNvSpPr/>
          <p:nvPr/>
        </p:nvSpPr>
        <p:spPr>
          <a:xfrm>
            <a:off x="812800" y="3548382"/>
            <a:ext cx="3386614" cy="1379220"/>
          </a:xfrm>
          <a:custGeom>
            <a:avLst/>
            <a:gdLst/>
            <a:ahLst/>
            <a:cxnLst/>
            <a:rect l="l" t="t" r="r" b="b"/>
            <a:pathLst>
              <a:path w="3386614" h="1379220">
                <a:moveTo>
                  <a:pt x="0" y="101600"/>
                </a:moveTo>
                <a:lnTo>
                  <a:pt x="0" y="101600"/>
                </a:lnTo>
                <a:arcTo hR="101600" wR="101600" stAng="10800000" swAng="5400000"/>
                <a:lnTo>
                  <a:pt x="3285014" y="0"/>
                </a:lnTo>
                <a:arcTo hR="101600" wR="101600" stAng="16200000" swAng="5400000"/>
                <a:lnTo>
                  <a:pt x="3386614" y="101600"/>
                </a:lnTo>
                <a:arcTo hR="50800" wR="101600" stAng="0" swAng="-5400000"/>
                <a:lnTo>
                  <a:pt x="101600" y="50800"/>
                </a:lnTo>
                <a:arcTo hR="50800" wR="101600" stAng="16200000" swAng="-5400000"/>
                <a:close/>
              </a:path>
            </a:pathLst>
          </a:custGeom>
          <a:solidFill>
            <a:srgbClr val="A9A391"/>
          </a:solidFill>
          <a:ln/>
        </p:spPr>
      </p:sp>
      <p:sp>
        <p:nvSpPr>
          <p:cNvPr id="21" name="Text 19"/>
          <p:cNvSpPr/>
          <p:nvPr/>
        </p:nvSpPr>
        <p:spPr>
          <a:xfrm>
            <a:off x="1041400" y="3832861"/>
            <a:ext cx="1362837"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4 · Explore</a:t>
            </a:r>
            <a:endParaRPr lang="en-US" sz="1800" dirty="0"/>
          </a:p>
        </p:txBody>
      </p:sp>
      <p:sp>
        <p:nvSpPr>
          <p:cNvPr id="22" name="Text 20"/>
          <p:cNvSpPr/>
          <p:nvPr/>
        </p:nvSpPr>
        <p:spPr>
          <a:xfrm>
            <a:off x="3421380" y="3834132"/>
            <a:ext cx="543084" cy="271780"/>
          </a:xfrm>
          <a:custGeom>
            <a:avLst/>
            <a:gdLst/>
            <a:ahLst/>
            <a:cxnLst/>
            <a:rect l="l" t="t" r="r" b="b"/>
            <a:pathLst>
              <a:path w="543084" h="271780">
                <a:moveTo>
                  <a:pt x="135890" y="0"/>
                </a:moveTo>
                <a:lnTo>
                  <a:pt x="407194" y="0"/>
                </a:lnTo>
                <a:arcTo hR="135890" wR="135890" stAng="16200000" swAng="5400000"/>
                <a:lnTo>
                  <a:pt x="543084" y="135890"/>
                </a:lnTo>
                <a:arcTo hR="135890" wR="135890" stAng="0" swAng="5400000"/>
                <a:lnTo>
                  <a:pt x="135890" y="271780"/>
                </a:lnTo>
                <a:arcTo hR="135890" wR="135890" stAng="5400000" swAng="5400000"/>
                <a:lnTo>
                  <a:pt x="0" y="135890"/>
                </a:lnTo>
                <a:arcTo hR="135890" wR="135890" stAng="10800000" swAng="5400000"/>
                <a:close/>
              </a:path>
            </a:pathLst>
          </a:custGeom>
          <a:noFill/>
          <a:ln w="12700">
            <a:solidFill>
              <a:srgbClr val="14213D"/>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Next</a:t>
            </a:r>
            <a:endParaRPr lang="en-US" sz="1200" dirty="0"/>
          </a:p>
        </p:txBody>
      </p:sp>
      <p:sp>
        <p:nvSpPr>
          <p:cNvPr id="23" name="Text 21"/>
          <p:cNvSpPr/>
          <p:nvPr/>
        </p:nvSpPr>
        <p:spPr>
          <a:xfrm>
            <a:off x="1041400" y="4201161"/>
            <a:ext cx="3017296"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Distributions of amount, rate, duration, income</a:t>
            </a:r>
            <a:endParaRPr lang="en-US" sz="1400" dirty="0"/>
          </a:p>
        </p:txBody>
      </p:sp>
      <p:sp>
        <p:nvSpPr>
          <p:cNvPr id="24" name="Shape 22"/>
          <p:cNvSpPr/>
          <p:nvPr/>
        </p:nvSpPr>
        <p:spPr>
          <a:xfrm>
            <a:off x="4402614" y="3548382"/>
            <a:ext cx="3386693" cy="1379220"/>
          </a:xfrm>
          <a:prstGeom prst="roundRect">
            <a:avLst>
              <a:gd name="adj" fmla="val 7366"/>
            </a:avLst>
          </a:prstGeom>
          <a:solidFill>
            <a:srgbClr val="F6F4EE"/>
          </a:solidFill>
          <a:ln/>
        </p:spPr>
      </p:sp>
      <p:sp>
        <p:nvSpPr>
          <p:cNvPr id="25" name="Shape 23"/>
          <p:cNvSpPr/>
          <p:nvPr/>
        </p:nvSpPr>
        <p:spPr>
          <a:xfrm>
            <a:off x="4402614" y="3548382"/>
            <a:ext cx="3386693" cy="1379220"/>
          </a:xfrm>
          <a:custGeom>
            <a:avLst/>
            <a:gdLst/>
            <a:ahLst/>
            <a:cxnLst/>
            <a:rect l="l" t="t" r="r" b="b"/>
            <a:pathLst>
              <a:path w="3386693" h="137922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A9A391"/>
          </a:solidFill>
          <a:ln/>
        </p:spPr>
      </p:sp>
      <p:sp>
        <p:nvSpPr>
          <p:cNvPr id="26" name="Text 24"/>
          <p:cNvSpPr/>
          <p:nvPr/>
        </p:nvSpPr>
        <p:spPr>
          <a:xfrm>
            <a:off x="4631214" y="3832861"/>
            <a:ext cx="1520571"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5 · Segment</a:t>
            </a:r>
            <a:endParaRPr lang="en-US" sz="1800" dirty="0"/>
          </a:p>
        </p:txBody>
      </p:sp>
      <p:sp>
        <p:nvSpPr>
          <p:cNvPr id="27" name="Text 25"/>
          <p:cNvSpPr/>
          <p:nvPr/>
        </p:nvSpPr>
        <p:spPr>
          <a:xfrm>
            <a:off x="7011274" y="3834132"/>
            <a:ext cx="543084" cy="271780"/>
          </a:xfrm>
          <a:custGeom>
            <a:avLst/>
            <a:gdLst/>
            <a:ahLst/>
            <a:cxnLst/>
            <a:rect l="l" t="t" r="r" b="b"/>
            <a:pathLst>
              <a:path w="543084" h="271780">
                <a:moveTo>
                  <a:pt x="135890" y="0"/>
                </a:moveTo>
                <a:lnTo>
                  <a:pt x="407194" y="0"/>
                </a:lnTo>
                <a:arcTo hR="135890" wR="135890" stAng="16200000" swAng="5400000"/>
                <a:lnTo>
                  <a:pt x="543084" y="135890"/>
                </a:lnTo>
                <a:arcTo hR="135890" wR="135890" stAng="0" swAng="5400000"/>
                <a:lnTo>
                  <a:pt x="135890" y="271780"/>
                </a:lnTo>
                <a:arcTo hR="135890" wR="135890" stAng="5400000" swAng="5400000"/>
                <a:lnTo>
                  <a:pt x="0" y="135890"/>
                </a:lnTo>
                <a:arcTo hR="135890" wR="135890" stAng="10800000" swAng="5400000"/>
                <a:close/>
              </a:path>
            </a:pathLst>
          </a:custGeom>
          <a:noFill/>
          <a:ln w="12700">
            <a:solidFill>
              <a:srgbClr val="14213D"/>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Next</a:t>
            </a:r>
            <a:endParaRPr lang="en-US" sz="1200" dirty="0"/>
          </a:p>
        </p:txBody>
      </p:sp>
      <p:sp>
        <p:nvSpPr>
          <p:cNvPr id="28" name="Text 26"/>
          <p:cNvSpPr/>
          <p:nvPr/>
        </p:nvSpPr>
        <p:spPr>
          <a:xfrm>
            <a:off x="4631214" y="4201161"/>
            <a:ext cx="301737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Default rate by rating, country, income, amount, rate, duration</a:t>
            </a:r>
            <a:endParaRPr lang="en-US" sz="1400" dirty="0"/>
          </a:p>
        </p:txBody>
      </p:sp>
      <p:sp>
        <p:nvSpPr>
          <p:cNvPr id="29" name="Shape 27"/>
          <p:cNvSpPr/>
          <p:nvPr/>
        </p:nvSpPr>
        <p:spPr>
          <a:xfrm>
            <a:off x="7992507" y="3548382"/>
            <a:ext cx="3386693" cy="1379220"/>
          </a:xfrm>
          <a:prstGeom prst="roundRect">
            <a:avLst>
              <a:gd name="adj" fmla="val 7366"/>
            </a:avLst>
          </a:prstGeom>
          <a:solidFill>
            <a:srgbClr val="F6F4EE"/>
          </a:solidFill>
          <a:ln/>
        </p:spPr>
      </p:sp>
      <p:sp>
        <p:nvSpPr>
          <p:cNvPr id="30" name="Shape 28"/>
          <p:cNvSpPr/>
          <p:nvPr/>
        </p:nvSpPr>
        <p:spPr>
          <a:xfrm>
            <a:off x="7992507" y="3548382"/>
            <a:ext cx="3386693" cy="1379220"/>
          </a:xfrm>
          <a:custGeom>
            <a:avLst/>
            <a:gdLst/>
            <a:ahLst/>
            <a:cxnLst/>
            <a:rect l="l" t="t" r="r" b="b"/>
            <a:pathLst>
              <a:path w="3386693" h="137922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A9A391"/>
          </a:solidFill>
          <a:ln/>
        </p:spPr>
      </p:sp>
      <p:sp>
        <p:nvSpPr>
          <p:cNvPr id="31" name="Text 29"/>
          <p:cNvSpPr/>
          <p:nvPr/>
        </p:nvSpPr>
        <p:spPr>
          <a:xfrm>
            <a:off x="8221107" y="3832861"/>
            <a:ext cx="124796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6 · Advise</a:t>
            </a:r>
            <a:endParaRPr lang="en-US" sz="1800" dirty="0"/>
          </a:p>
        </p:txBody>
      </p:sp>
      <p:sp>
        <p:nvSpPr>
          <p:cNvPr id="32" name="Text 30"/>
          <p:cNvSpPr/>
          <p:nvPr/>
        </p:nvSpPr>
        <p:spPr>
          <a:xfrm>
            <a:off x="10601166" y="3834132"/>
            <a:ext cx="543084" cy="271780"/>
          </a:xfrm>
          <a:custGeom>
            <a:avLst/>
            <a:gdLst/>
            <a:ahLst/>
            <a:cxnLst/>
            <a:rect l="l" t="t" r="r" b="b"/>
            <a:pathLst>
              <a:path w="543084" h="271780">
                <a:moveTo>
                  <a:pt x="135890" y="0"/>
                </a:moveTo>
                <a:lnTo>
                  <a:pt x="407194" y="0"/>
                </a:lnTo>
                <a:arcTo hR="135890" wR="135890" stAng="16200000" swAng="5400000"/>
                <a:lnTo>
                  <a:pt x="543084" y="135890"/>
                </a:lnTo>
                <a:arcTo hR="135890" wR="135890" stAng="0" swAng="5400000"/>
                <a:lnTo>
                  <a:pt x="135890" y="271780"/>
                </a:lnTo>
                <a:arcTo hR="135890" wR="135890" stAng="5400000" swAng="5400000"/>
                <a:lnTo>
                  <a:pt x="0" y="135890"/>
                </a:lnTo>
                <a:arcTo hR="135890" wR="135890" stAng="10800000" swAng="5400000"/>
                <a:close/>
              </a:path>
            </a:pathLst>
          </a:custGeom>
          <a:noFill/>
          <a:ln w="12700">
            <a:solidFill>
              <a:srgbClr val="14213D"/>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Next</a:t>
            </a:r>
            <a:endParaRPr lang="en-US" sz="1200" dirty="0"/>
          </a:p>
        </p:txBody>
      </p:sp>
      <p:sp>
        <p:nvSpPr>
          <p:cNvPr id="33" name="Text 31"/>
          <p:cNvSpPr/>
          <p:nvPr/>
        </p:nvSpPr>
        <p:spPr>
          <a:xfrm>
            <a:off x="8221107" y="4201161"/>
            <a:ext cx="3017378"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Turn patterns into credit-risk and monitoring advice</a:t>
            </a:r>
            <a:endParaRPr lang="en-US" sz="1400" dirty="0"/>
          </a:p>
        </p:txBody>
      </p:sp>
      <p:sp>
        <p:nvSpPr>
          <p:cNvPr id="34" name="Text 32"/>
          <p:cNvSpPr/>
          <p:nvPr/>
        </p:nvSpPr>
        <p:spPr>
          <a:xfrm>
            <a:off x="812800" y="6238239"/>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35" name="Text 33"/>
          <p:cNvSpPr/>
          <p:nvPr/>
        </p:nvSpPr>
        <p:spPr>
          <a:xfrm>
            <a:off x="11236960" y="6238239"/>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B4501A"/>
                </a:solidFill>
                <a:latin typeface="IBM Plex Sans" pitchFamily="34" charset="0"/>
                <a:ea typeface="IBM Plex Sans" pitchFamily="34" charset="-122"/>
                <a:cs typeface="IBM Plex Sans" pitchFamily="34" charset="-120"/>
              </a:rPr>
              <a:t>CLEANING SO FAR</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Most gaps have a reason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71042"/>
          <a:ext cx="10556240" cy="2141220"/>
        </p:xfrm>
        <a:graphic>
          <a:graphicData uri="http://schemas.openxmlformats.org/drawingml/2006/table">
            <a:tbl>
              <a:tblPr/>
              <a:tblGrid>
                <a:gridCol w="3166872"/>
                <a:gridCol w="1266749"/>
                <a:gridCol w="3377997"/>
                <a:gridCol w="2744622"/>
              </a:tblGrid>
              <a:tr h="356870">
                <a:tc>
                  <a:txBody>
                    <a:bodyPr/>
                    <a:lstStyle/>
                    <a:p>
                      <a:pPr indent="0" marL="0">
                        <a:lnSpc>
                          <a:spcPts val="1820"/>
                        </a:lnSpc>
                        <a:buNone/>
                      </a:pPr>
                      <a:r>
                        <a:rPr lang="en-US" sz="1300" b="1" dirty="0">
                          <a:solidFill>
                            <a:srgbClr val="F6F4EE"/>
                          </a:solidFill>
                          <a:latin typeface="IBM Plex Sans" pitchFamily="34" charset="0"/>
                          <a:ea typeface="IBM Plex Sans" pitchFamily="34" charset="-122"/>
                          <a:cs typeface="IBM Plex Sans" pitchFamily="34" charset="-120"/>
                        </a:rPr>
                        <a:t>Column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4EE"/>
                          </a:solidFill>
                          <a:latin typeface="IBM Plex Sans" pitchFamily="34" charset="0"/>
                          <a:ea typeface="IBM Plex Sans" pitchFamily="34" charset="-122"/>
                          <a:cs typeface="IBM Plex Sans" pitchFamily="34" charset="-120"/>
                        </a:rPr>
                        <a:t>Missing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4EE"/>
                          </a:solidFill>
                          <a:latin typeface="IBM Plex Sans" pitchFamily="34" charset="0"/>
                          <a:ea typeface="IBM Plex Sans" pitchFamily="34" charset="-122"/>
                          <a:cs typeface="IBM Plex Sans" pitchFamily="34" charset="-120"/>
                        </a:rPr>
                        <a:t>Why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4EE"/>
                          </a:solidFill>
                          <a:latin typeface="IBM Plex Sans" pitchFamily="34" charset="0"/>
                          <a:ea typeface="IBM Plex Sans" pitchFamily="34" charset="-122"/>
                          <a:cs typeface="IBM Plex Sans" pitchFamily="34" charset="-120"/>
                        </a:rPr>
                        <a:t>Plan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6870">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months_in_default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algn="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86.2%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Loan never defaulted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Missing by design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356870">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customer_risk_rating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algn="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40.1%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Not given for older loans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Analyse rated loans only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r>
              <a:tr h="356870">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combined_income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algn="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32.4%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Not recorded for many older loans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Keep; never fill with 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356870">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has_default_within_12_months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algn="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22.3%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Loan under 12 months old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Use mature loans only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4C3BE"/>
                      </a:solidFill>
                      <a:prstDash val="solid"/>
                      <a:round/>
                      <a:headEnd type="none" w="med" len="med"/>
                      <a:tailEnd type="none" w="med" len="med"/>
                    </a:lnB>
                    <a:solidFill>
                      <a:srgbClr val="F6F4EE"/>
                    </a:solidFill>
                  </a:tcPr>
                </a:tc>
              </a:tr>
              <a:tr h="356870">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is_default + repayment columns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algn="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0.9%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7,713 cancelled or returned loans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Open: remove?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bl>
          </a:graphicData>
        </a:graphic>
      </p:graphicFrame>
      <p:sp>
        <p:nvSpPr>
          <p:cNvPr id="5" name="Text 2"/>
          <p:cNvSpPr/>
          <p:nvPr/>
        </p:nvSpPr>
        <p:spPr>
          <a:xfrm>
            <a:off x="812800" y="6238239"/>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6" name="Text 3"/>
          <p:cNvSpPr/>
          <p:nvPr/>
        </p:nvSpPr>
        <p:spPr>
          <a:xfrm>
            <a:off x="11236960" y="6238239"/>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B4501A"/>
                </a:solidFill>
                <a:latin typeface="IBM Plex Sans" pitchFamily="34" charset="0"/>
                <a:ea typeface="IBM Plex Sans" pitchFamily="34" charset="-122"/>
                <a:cs typeface="IBM Plex Sans" pitchFamily="34" charset="-120"/>
              </a:rPr>
              <a:t>TASK OWNERSHIP · GITHUB SETUP</a:t>
            </a:r>
            <a:endParaRPr lang="en-US" sz="1200" dirty="0"/>
          </a:p>
        </p:txBody>
      </p:sp>
      <p:sp>
        <p:nvSpPr>
          <p:cNvPr id="3" name="Text 1"/>
          <p:cNvSpPr/>
          <p:nvPr>
            <p:ph type="title"/>
          </p:nvPr>
        </p:nvSpPr>
        <p:spPr>
          <a:xfrm>
            <a:off x="812800" y="11531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Who owns what, and where it lives</a:t>
            </a:r>
            <a:endParaRPr lang="en-US" sz="3600" dirty="0"/>
          </a:p>
        </p:txBody>
      </p:sp>
      <p:sp>
        <p:nvSpPr>
          <p:cNvPr id="4" name="Shape 2"/>
          <p:cNvSpPr/>
          <p:nvPr/>
        </p:nvSpPr>
        <p:spPr>
          <a:xfrm>
            <a:off x="815975" y="1964057"/>
            <a:ext cx="5124450" cy="1060450"/>
          </a:xfrm>
          <a:prstGeom prst="roundRect">
            <a:avLst>
              <a:gd name="adj" fmla="val 9281"/>
            </a:avLst>
          </a:prstGeom>
          <a:solidFill>
            <a:srgbClr val="FFFDF8"/>
          </a:solidFill>
          <a:ln w="6350">
            <a:solidFill>
              <a:srgbClr val="DDD7C8"/>
            </a:solidFill>
            <a:prstDash val="solid"/>
          </a:ln>
        </p:spPr>
      </p:sp>
      <p:sp>
        <p:nvSpPr>
          <p:cNvPr id="5" name="Text 3"/>
          <p:cNvSpPr/>
          <p:nvPr/>
        </p:nvSpPr>
        <p:spPr>
          <a:xfrm>
            <a:off x="1046480" y="2194561"/>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Srinidhi Gokul</a:t>
            </a:r>
            <a:endParaRPr lang="en-US" sz="1800" dirty="0"/>
          </a:p>
        </p:txBody>
      </p:sp>
      <p:sp>
        <p:nvSpPr>
          <p:cNvPr id="6" name="Text 4"/>
          <p:cNvSpPr/>
          <p:nvPr/>
        </p:nvSpPr>
        <p:spPr>
          <a:xfrm>
            <a:off x="1046480" y="2545082"/>
            <a:ext cx="4890770"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Cleaning notebook, README, data dictionary, cleaning log</a:t>
            </a:r>
            <a:endParaRPr lang="en-US" sz="1400" dirty="0"/>
          </a:p>
        </p:txBody>
      </p:sp>
      <p:sp>
        <p:nvSpPr>
          <p:cNvPr id="7" name="Shape 5"/>
          <p:cNvSpPr/>
          <p:nvPr/>
        </p:nvSpPr>
        <p:spPr>
          <a:xfrm>
            <a:off x="815975" y="3183257"/>
            <a:ext cx="5124450" cy="1060450"/>
          </a:xfrm>
          <a:prstGeom prst="roundRect">
            <a:avLst>
              <a:gd name="adj" fmla="val 9281"/>
            </a:avLst>
          </a:prstGeom>
          <a:solidFill>
            <a:srgbClr val="FFFDF8"/>
          </a:solidFill>
          <a:ln w="6350">
            <a:solidFill>
              <a:srgbClr val="DDD7C8"/>
            </a:solidFill>
            <a:prstDash val="solid"/>
          </a:ln>
        </p:spPr>
      </p:sp>
      <p:sp>
        <p:nvSpPr>
          <p:cNvPr id="8" name="Text 6"/>
          <p:cNvSpPr/>
          <p:nvPr/>
        </p:nvSpPr>
        <p:spPr>
          <a:xfrm>
            <a:off x="1046480" y="3413761"/>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Mang Chin Par</a:t>
            </a:r>
            <a:endParaRPr lang="en-US" sz="1800" dirty="0"/>
          </a:p>
        </p:txBody>
      </p:sp>
      <p:sp>
        <p:nvSpPr>
          <p:cNvPr id="9" name="Text 7"/>
          <p:cNvSpPr/>
          <p:nvPr/>
        </p:nvSpPr>
        <p:spPr>
          <a:xfrm>
            <a:off x="1046480" y="3764282"/>
            <a:ext cx="4803343"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Repository and Git LFS setup, dataset updates</a:t>
            </a:r>
            <a:endParaRPr lang="en-US" sz="1400" dirty="0"/>
          </a:p>
        </p:txBody>
      </p:sp>
      <p:sp>
        <p:nvSpPr>
          <p:cNvPr id="10" name="Shape 8"/>
          <p:cNvSpPr/>
          <p:nvPr/>
        </p:nvSpPr>
        <p:spPr>
          <a:xfrm>
            <a:off x="6248400" y="1960882"/>
            <a:ext cx="5130800" cy="2032000"/>
          </a:xfrm>
          <a:prstGeom prst="roundRect">
            <a:avLst>
              <a:gd name="adj" fmla="val 5000"/>
            </a:avLst>
          </a:prstGeom>
          <a:solidFill>
            <a:srgbClr val="14213D"/>
          </a:solidFill>
          <a:ln/>
        </p:spPr>
      </p:sp>
      <p:pic>
        <p:nvPicPr>
          <p:cNvPr id="11" name="Image 0" descr="Code">    </p:cNvPr>
          <p:cNvPicPr>
            <a:picLocks noChangeAspect="1"/>
          </p:cNvPicPr>
          <p:nvPr/>
        </p:nvPicPr>
        <p:blipFill>
          <a:blip r:embed="rId1"/>
          <a:srcRect l="0" r="0" t="0" b="0"/>
          <a:stretch/>
        </p:blipFill>
        <p:spPr>
          <a:xfrm>
            <a:off x="6527800" y="2240282"/>
            <a:ext cx="279400" cy="279400"/>
          </a:xfrm>
          <a:prstGeom prst="rect">
            <a:avLst/>
          </a:prstGeom>
        </p:spPr>
      </p:pic>
      <p:sp>
        <p:nvSpPr>
          <p:cNvPr id="12" name="Text 9"/>
          <p:cNvSpPr/>
          <p:nvPr/>
        </p:nvSpPr>
        <p:spPr>
          <a:xfrm>
            <a:off x="6934200" y="2255521"/>
            <a:ext cx="2645759"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Capstone-Bondora-Project</a:t>
            </a:r>
            <a:endParaRPr lang="en-US" sz="1400" dirty="0"/>
          </a:p>
        </p:txBody>
      </p:sp>
      <p:sp>
        <p:nvSpPr>
          <p:cNvPr id="13" name="Text 10"/>
          <p:cNvSpPr/>
          <p:nvPr/>
        </p:nvSpPr>
        <p:spPr>
          <a:xfrm>
            <a:off x="6606032" y="2646682"/>
            <a:ext cx="4623308"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b="1" dirty="0">
                <a:solidFill>
                  <a:srgbClr val="F6F4EE"/>
                </a:solidFill>
                <a:latin typeface="IBM Plex Sans" pitchFamily="34" charset="0"/>
                <a:ea typeface="IBM Plex Sans" pitchFamily="34" charset="-122"/>
                <a:cs typeface="IBM Plex Sans" pitchFamily="34" charset="-120"/>
              </a:rPr>
              <a:t>data/</a:t>
            </a:r>
            <a:r>
              <a:rPr lang="en-US" sz="1400" dirty="0">
                <a:solidFill>
                  <a:srgbClr val="D5DBE7"/>
                </a:solidFill>
                <a:latin typeface="IBM Plex Sans" pitchFamily="34" charset="0"/>
                <a:ea typeface="IBM Plex Sans" pitchFamily="34" charset="-122"/>
                <a:cs typeface="IBM Plex Sans" pitchFamily="34" charset="-120"/>
              </a:rPr>
              <a:t> Excel file via Git LFS</a:t>
            </a:r>
            <a:endParaRPr lang="en-US" sz="1400" dirty="0"/>
          </a:p>
          <a:p>
            <a:pPr algn="l" marL="175768" indent="-175768">
              <a:lnSpc>
                <a:spcPts val="2100"/>
              </a:lnSpc>
              <a:buSzPct val="100000"/>
              <a:buChar char="•"/>
            </a:pPr>
            <a:r>
              <a:rPr lang="en-US" sz="1400" b="1" dirty="0">
                <a:solidFill>
                  <a:srgbClr val="F6F4EE"/>
                </a:solidFill>
                <a:latin typeface="IBM Plex Sans" pitchFamily="34" charset="0"/>
                <a:ea typeface="IBM Plex Sans" pitchFamily="34" charset="-122"/>
                <a:cs typeface="IBM Plex Sans" pitchFamily="34" charset="-120"/>
              </a:rPr>
              <a:t>Cleaning_and_Analyzing/</a:t>
            </a:r>
            <a:r>
              <a:rPr lang="en-US" sz="1400" dirty="0">
                <a:solidFill>
                  <a:srgbClr val="D5DBE7"/>
                </a:solidFill>
                <a:latin typeface="IBM Plex Sans" pitchFamily="34" charset="0"/>
                <a:ea typeface="IBM Plex Sans" pitchFamily="34" charset="-122"/>
                <a:cs typeface="IBM Plex Sans" pitchFamily="34" charset="-120"/>
              </a:rPr>
              <a:t> notebook, cleaning log</a:t>
            </a:r>
            <a:endParaRPr lang="en-US" sz="1400" dirty="0"/>
          </a:p>
          <a:p>
            <a:pPr algn="l" marL="175768" indent="-175768">
              <a:lnSpc>
                <a:spcPts val="2100"/>
              </a:lnSpc>
              <a:buSzPct val="100000"/>
              <a:buChar char="•"/>
            </a:pPr>
            <a:r>
              <a:rPr lang="en-US" sz="1400" b="1" dirty="0">
                <a:solidFill>
                  <a:srgbClr val="F6F4EE"/>
                </a:solidFill>
                <a:latin typeface="IBM Plex Sans" pitchFamily="34" charset="0"/>
                <a:ea typeface="IBM Plex Sans" pitchFamily="34" charset="-122"/>
                <a:cs typeface="IBM Plex Sans" pitchFamily="34" charset="-120"/>
              </a:rPr>
              <a:t>Goals/</a:t>
            </a:r>
            <a:r>
              <a:rPr lang="en-US" sz="1400" dirty="0">
                <a:solidFill>
                  <a:srgbClr val="D5DBE7"/>
                </a:solidFill>
                <a:latin typeface="IBM Plex Sans" pitchFamily="34" charset="0"/>
                <a:ea typeface="IBM Plex Sans" pitchFamily="34" charset="-122"/>
                <a:cs typeface="IBM Plex Sans" pitchFamily="34" charset="-120"/>
              </a:rPr>
              <a:t> daily goals</a:t>
            </a:r>
            <a:endParaRPr lang="en-US" sz="1400" dirty="0"/>
          </a:p>
          <a:p>
            <a:pPr algn="l" marL="175768" indent="-175768">
              <a:lnSpc>
                <a:spcPts val="2100"/>
              </a:lnSpc>
              <a:buSzPct val="100000"/>
              <a:buChar char="•"/>
            </a:pPr>
            <a:r>
              <a:rPr lang="en-US" sz="1400" b="1" dirty="0">
                <a:solidFill>
                  <a:srgbClr val="F6F4EE"/>
                </a:solidFill>
                <a:latin typeface="IBM Plex Sans" pitchFamily="34" charset="0"/>
                <a:ea typeface="IBM Plex Sans" pitchFamily="34" charset="-122"/>
                <a:cs typeface="IBM Plex Sans" pitchFamily="34" charset="-120"/>
              </a:rPr>
              <a:t>README.md</a:t>
            </a:r>
            <a:r>
              <a:rPr lang="en-US" sz="1400" dirty="0">
                <a:solidFill>
                  <a:srgbClr val="D5DBE7"/>
                </a:solidFill>
                <a:latin typeface="IBM Plex Sans" pitchFamily="34" charset="0"/>
                <a:ea typeface="IBM Plex Sans" pitchFamily="34" charset="-122"/>
                <a:cs typeface="IBM Plex Sans" pitchFamily="34" charset="-120"/>
              </a:rPr>
              <a:t> overview, data dictionary</a:t>
            </a:r>
            <a:endParaRPr lang="en-US" sz="1400" dirty="0"/>
          </a:p>
        </p:txBody>
      </p:sp>
      <p:sp>
        <p:nvSpPr>
          <p:cNvPr id="14" name="Text 11"/>
          <p:cNvSpPr/>
          <p:nvPr/>
        </p:nvSpPr>
        <p:spPr>
          <a:xfrm>
            <a:off x="812800" y="6238242"/>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15" name="Text 12"/>
          <p:cNvSpPr/>
          <p:nvPr/>
        </p:nvSpPr>
        <p:spPr>
          <a:xfrm>
            <a:off x="11236960" y="6238242"/>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AE6D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A16"/>
                </a:solidFill>
                <a:latin typeface="IBM Plex Sans" pitchFamily="34" charset="0"/>
                <a:ea typeface="IBM Plex Sans" pitchFamily="34" charset="-122"/>
                <a:cs typeface="IBM Plex Sans" pitchFamily="34" charset="-120"/>
              </a:rPr>
              <a:t>STANDUP</a:t>
            </a:r>
            <a:endParaRPr lang="en-US" sz="1200" dirty="0"/>
          </a:p>
        </p:txBody>
      </p:sp>
      <p:sp>
        <p:nvSpPr>
          <p:cNvPr id="3" name="Text 1"/>
          <p:cNvSpPr/>
          <p:nvPr>
            <p:ph type="title"/>
          </p:nvPr>
        </p:nvSpPr>
        <p:spPr>
          <a:xfrm>
            <a:off x="812800" y="11531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Where we are today</a:t>
            </a:r>
            <a:endParaRPr lang="en-US" sz="3600" dirty="0"/>
          </a:p>
        </p:txBody>
      </p:sp>
      <p:sp>
        <p:nvSpPr>
          <p:cNvPr id="4" name="Shape 2"/>
          <p:cNvSpPr/>
          <p:nvPr/>
        </p:nvSpPr>
        <p:spPr>
          <a:xfrm>
            <a:off x="812800" y="1960879"/>
            <a:ext cx="3386614" cy="2458720"/>
          </a:xfrm>
          <a:prstGeom prst="roundRect">
            <a:avLst>
              <a:gd name="adj" fmla="val 4132"/>
            </a:avLst>
          </a:prstGeom>
          <a:solidFill>
            <a:srgbClr val="F6F4EE"/>
          </a:solidFill>
          <a:ln/>
        </p:spPr>
      </p:sp>
      <p:sp>
        <p:nvSpPr>
          <p:cNvPr id="5" name="Shape 3"/>
          <p:cNvSpPr/>
          <p:nvPr/>
        </p:nvSpPr>
        <p:spPr>
          <a:xfrm>
            <a:off x="812800" y="1960879"/>
            <a:ext cx="3386614" cy="2458720"/>
          </a:xfrm>
          <a:custGeom>
            <a:avLst/>
            <a:gdLst/>
            <a:ahLst/>
            <a:cxnLst/>
            <a:rect l="l" t="t" r="r" b="b"/>
            <a:pathLst>
              <a:path w="3386614" h="2458720">
                <a:moveTo>
                  <a:pt x="0" y="101600"/>
                </a:moveTo>
                <a:lnTo>
                  <a:pt x="0" y="101600"/>
                </a:lnTo>
                <a:arcTo hR="101600" wR="101600" stAng="10800000" swAng="5400000"/>
                <a:lnTo>
                  <a:pt x="3285014" y="0"/>
                </a:lnTo>
                <a:arcTo hR="101600" wR="101600" stAng="16200000" swAng="5400000"/>
                <a:lnTo>
                  <a:pt x="3386614" y="101600"/>
                </a:lnTo>
                <a:arcTo hR="50800" wR="101600" stAng="0" swAng="-5400000"/>
                <a:lnTo>
                  <a:pt x="101600" y="50800"/>
                </a:lnTo>
                <a:arcTo hR="50800" wR="101600" stAng="16200000" swAng="-5400000"/>
                <a:close/>
              </a:path>
            </a:pathLst>
          </a:custGeom>
          <a:solidFill>
            <a:srgbClr val="14213D"/>
          </a:solidFill>
          <a:ln/>
        </p:spPr>
      </p:sp>
      <p:pic>
        <p:nvPicPr>
          <p:cNvPr id="6" name="Image 0" descr="CheckCircle">    </p:cNvPr>
          <p:cNvPicPr>
            <a:picLocks noChangeAspect="1"/>
          </p:cNvPicPr>
          <p:nvPr/>
        </p:nvPicPr>
        <p:blipFill>
          <a:blip r:embed="rId1"/>
          <a:srcRect l="0" r="0" t="0" b="0"/>
          <a:stretch/>
        </p:blipFill>
        <p:spPr>
          <a:xfrm>
            <a:off x="1066800" y="2265679"/>
            <a:ext cx="279400" cy="279400"/>
          </a:xfrm>
          <a:prstGeom prst="rect">
            <a:avLst/>
          </a:prstGeom>
        </p:spPr>
      </p:pic>
      <p:sp>
        <p:nvSpPr>
          <p:cNvPr id="7" name="Text 4"/>
          <p:cNvSpPr/>
          <p:nvPr/>
        </p:nvSpPr>
        <p:spPr>
          <a:xfrm>
            <a:off x="1447800" y="2268221"/>
            <a:ext cx="108632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Finished</a:t>
            </a:r>
            <a:endParaRPr lang="en-US" sz="1800" dirty="0"/>
          </a:p>
        </p:txBody>
      </p:sp>
      <p:sp>
        <p:nvSpPr>
          <p:cNvPr id="8" name="Text 5"/>
          <p:cNvSpPr/>
          <p:nvPr/>
        </p:nvSpPr>
        <p:spPr>
          <a:xfrm>
            <a:off x="1145032" y="2672079"/>
            <a:ext cx="2879120" cy="1518920"/>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Repo and Git LFS set up</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Data loaded, types fixed</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Missing values analysed per column</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README, data dictionary, cleaning log</a:t>
            </a:r>
            <a:endParaRPr lang="en-US" sz="1400" dirty="0"/>
          </a:p>
        </p:txBody>
      </p:sp>
      <p:sp>
        <p:nvSpPr>
          <p:cNvPr id="9" name="Shape 6"/>
          <p:cNvSpPr/>
          <p:nvPr/>
        </p:nvSpPr>
        <p:spPr>
          <a:xfrm>
            <a:off x="4402614" y="1960879"/>
            <a:ext cx="3386693" cy="2458720"/>
          </a:xfrm>
          <a:prstGeom prst="roundRect">
            <a:avLst>
              <a:gd name="adj" fmla="val 4132"/>
            </a:avLst>
          </a:prstGeom>
          <a:solidFill>
            <a:srgbClr val="F6F4EE"/>
          </a:solidFill>
          <a:ln/>
        </p:spPr>
      </p:sp>
      <p:sp>
        <p:nvSpPr>
          <p:cNvPr id="10" name="Shape 7"/>
          <p:cNvSpPr/>
          <p:nvPr/>
        </p:nvSpPr>
        <p:spPr>
          <a:xfrm>
            <a:off x="4402614" y="1960879"/>
            <a:ext cx="3386693" cy="2458720"/>
          </a:xfrm>
          <a:custGeom>
            <a:avLst/>
            <a:gdLst/>
            <a:ahLst/>
            <a:cxnLst/>
            <a:rect l="l" t="t" r="r" b="b"/>
            <a:pathLst>
              <a:path w="3386693" h="245872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C2571B"/>
          </a:solidFill>
          <a:ln/>
        </p:spPr>
      </p:sp>
      <p:pic>
        <p:nvPicPr>
          <p:cNvPr id="11" name="Image 1" descr="Play">    </p:cNvPr>
          <p:cNvPicPr>
            <a:picLocks noChangeAspect="1"/>
          </p:cNvPicPr>
          <p:nvPr/>
        </p:nvPicPr>
        <p:blipFill>
          <a:blip r:embed="rId2"/>
          <a:srcRect l="0" r="0" t="0" b="0"/>
          <a:stretch/>
        </p:blipFill>
        <p:spPr>
          <a:xfrm>
            <a:off x="4656614" y="2265679"/>
            <a:ext cx="279400" cy="279400"/>
          </a:xfrm>
          <a:prstGeom prst="rect">
            <a:avLst/>
          </a:prstGeom>
        </p:spPr>
      </p:pic>
      <p:sp>
        <p:nvSpPr>
          <p:cNvPr id="12" name="Text 8"/>
          <p:cNvSpPr/>
          <p:nvPr/>
        </p:nvSpPr>
        <p:spPr>
          <a:xfrm>
            <a:off x="5037614" y="2268221"/>
            <a:ext cx="598075"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Next</a:t>
            </a:r>
            <a:endParaRPr lang="en-US" sz="1800" dirty="0"/>
          </a:p>
        </p:txBody>
      </p:sp>
      <p:sp>
        <p:nvSpPr>
          <p:cNvPr id="13" name="Text 9"/>
          <p:cNvSpPr/>
          <p:nvPr/>
        </p:nvSpPr>
        <p:spPr>
          <a:xfrm>
            <a:off x="4734846" y="2672079"/>
            <a:ext cx="2879202" cy="1270000"/>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Decide on the 7,713 cancelled loans</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Rebuild the default flag</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Default rate by segment, with charts</a:t>
            </a:r>
            <a:endParaRPr lang="en-US" sz="1400" dirty="0"/>
          </a:p>
        </p:txBody>
      </p:sp>
      <p:sp>
        <p:nvSpPr>
          <p:cNvPr id="14" name="Shape 10"/>
          <p:cNvSpPr/>
          <p:nvPr/>
        </p:nvSpPr>
        <p:spPr>
          <a:xfrm>
            <a:off x="7992507" y="1960879"/>
            <a:ext cx="3386693" cy="2458720"/>
          </a:xfrm>
          <a:prstGeom prst="roundRect">
            <a:avLst>
              <a:gd name="adj" fmla="val 4132"/>
            </a:avLst>
          </a:prstGeom>
          <a:solidFill>
            <a:srgbClr val="F6F4EE"/>
          </a:solidFill>
          <a:ln/>
        </p:spPr>
      </p:sp>
      <p:sp>
        <p:nvSpPr>
          <p:cNvPr id="15" name="Shape 11"/>
          <p:cNvSpPr/>
          <p:nvPr/>
        </p:nvSpPr>
        <p:spPr>
          <a:xfrm>
            <a:off x="7992507" y="1960879"/>
            <a:ext cx="3386693" cy="2458720"/>
          </a:xfrm>
          <a:custGeom>
            <a:avLst/>
            <a:gdLst/>
            <a:ahLst/>
            <a:cxnLst/>
            <a:rect l="l" t="t" r="r" b="b"/>
            <a:pathLst>
              <a:path w="3386693" h="2458720">
                <a:moveTo>
                  <a:pt x="0" y="101600"/>
                </a:moveTo>
                <a:lnTo>
                  <a:pt x="0" y="101600"/>
                </a:lnTo>
                <a:arcTo hR="101600" wR="101600" stAng="10800000" swAng="5400000"/>
                <a:lnTo>
                  <a:pt x="3285093" y="0"/>
                </a:lnTo>
                <a:arcTo hR="101600" wR="101600" stAng="16200000" swAng="5400000"/>
                <a:lnTo>
                  <a:pt x="3386693" y="101600"/>
                </a:lnTo>
                <a:arcTo hR="50800" wR="101600" stAng="0" swAng="-5400000"/>
                <a:lnTo>
                  <a:pt x="101600" y="50800"/>
                </a:lnTo>
                <a:arcTo hR="50800" wR="101600" stAng="16200000" swAng="-5400000"/>
                <a:close/>
              </a:path>
            </a:pathLst>
          </a:custGeom>
          <a:solidFill>
            <a:srgbClr val="A9A391"/>
          </a:solidFill>
          <a:ln/>
        </p:spPr>
      </p:sp>
      <p:pic>
        <p:nvPicPr>
          <p:cNvPr id="16" name="Image 2" descr="Warning">    </p:cNvPr>
          <p:cNvPicPr>
            <a:picLocks noChangeAspect="1"/>
          </p:cNvPicPr>
          <p:nvPr/>
        </p:nvPicPr>
        <p:blipFill>
          <a:blip r:embed="rId3"/>
          <a:srcRect l="0" r="0" t="0" b="0"/>
          <a:stretch/>
        </p:blipFill>
        <p:spPr>
          <a:xfrm>
            <a:off x="8246507" y="2265679"/>
            <a:ext cx="279400" cy="279400"/>
          </a:xfrm>
          <a:prstGeom prst="rect">
            <a:avLst/>
          </a:prstGeom>
        </p:spPr>
      </p:pic>
      <p:sp>
        <p:nvSpPr>
          <p:cNvPr id="17" name="Text 12"/>
          <p:cNvSpPr/>
          <p:nvPr/>
        </p:nvSpPr>
        <p:spPr>
          <a:xfrm>
            <a:off x="8627507" y="2268221"/>
            <a:ext cx="110309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Blockers</a:t>
            </a:r>
            <a:endParaRPr lang="en-US" sz="1800" dirty="0"/>
          </a:p>
        </p:txBody>
      </p:sp>
      <p:sp>
        <p:nvSpPr>
          <p:cNvPr id="18" name="Text 13"/>
          <p:cNvSpPr/>
          <p:nvPr/>
        </p:nvSpPr>
        <p:spPr>
          <a:xfrm>
            <a:off x="8324739" y="2672079"/>
            <a:ext cx="2879202" cy="1518920"/>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Merge conflicts from a shared notebook and Parquet file</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Dataset swapped mid-cleaning, counts re-checked</a:t>
            </a:r>
            <a:endParaRPr lang="en-US" sz="1400" dirty="0"/>
          </a:p>
          <a:p>
            <a:pPr algn="l" marL="175768" indent="-175768">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Waiting on mentor sign-off for missing values</a:t>
            </a:r>
            <a:endParaRPr lang="en-US" sz="1400" dirty="0"/>
          </a:p>
        </p:txBody>
      </p:sp>
      <p:sp>
        <p:nvSpPr>
          <p:cNvPr id="19" name="Text 14"/>
          <p:cNvSpPr/>
          <p:nvPr/>
        </p:nvSpPr>
        <p:spPr>
          <a:xfrm>
            <a:off x="812800" y="47244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Evidence:</a:t>
            </a:r>
            <a:r>
              <a:rPr lang="en-US" sz="1400" dirty="0">
                <a:solidFill>
                  <a:srgbClr val="4A5568"/>
                </a:solidFill>
                <a:latin typeface="IBM Plex Sans" pitchFamily="34" charset="0"/>
                <a:ea typeface="IBM Plex Sans" pitchFamily="34" charset="-122"/>
                <a:cs typeface="IBM Plex Sans" pitchFamily="34" charset="-120"/>
              </a:rPr>
              <a:t> missing-values table in the notebook · changes.md cleaning log · GitHub commit history</a:t>
            </a:r>
            <a:endParaRPr lang="en-US" sz="1400" dirty="0"/>
          </a:p>
        </p:txBody>
      </p:sp>
      <p:sp>
        <p:nvSpPr>
          <p:cNvPr id="20" name="Text 15"/>
          <p:cNvSpPr/>
          <p:nvPr/>
        </p:nvSpPr>
        <p:spPr>
          <a:xfrm>
            <a:off x="812800" y="6238242"/>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21" name="Text 16"/>
          <p:cNvSpPr/>
          <p:nvPr/>
        </p:nvSpPr>
        <p:spPr>
          <a:xfrm>
            <a:off x="11236960" y="6238242"/>
            <a:ext cx="14224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270"/>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65A"/>
                </a:solidFill>
                <a:latin typeface="IBM Plex Sans" pitchFamily="34" charset="0"/>
                <a:ea typeface="IBM Plex Sans" pitchFamily="34" charset="-122"/>
                <a:cs typeface="IBM Plex Sans" pitchFamily="34" charset="-120"/>
              </a:rPr>
              <a:t>ONE INSIGHT</a:t>
            </a:r>
            <a:endParaRPr lang="en-US" sz="1200" dirty="0"/>
          </a:p>
        </p:txBody>
      </p:sp>
      <p:sp>
        <p:nvSpPr>
          <p:cNvPr id="3" name="Text 1"/>
          <p:cNvSpPr/>
          <p:nvPr/>
        </p:nvSpPr>
        <p:spPr>
          <a:xfrm>
            <a:off x="812800" y="2377442"/>
            <a:ext cx="3554925" cy="1549400"/>
          </a:xfrm>
          <a:prstGeom prst="rect">
            <a:avLst/>
          </a:prstGeom>
          <a:noFill/>
          <a:ln/>
        </p:spPr>
        <p:txBody>
          <a:bodyPr wrap="none" lIns="0" tIns="0" rIns="0" bIns="0" rtlCol="0" anchor="t">
            <a:normAutofit/>
          </a:bodyPr>
          <a:lstStyle/>
          <a:p>
            <a:pPr algn="l" indent="0" marL="0">
              <a:lnSpc>
                <a:spcPts val="12000"/>
              </a:lnSpc>
              <a:buNone/>
            </a:pPr>
            <a:r>
              <a:rPr lang="en-US" sz="12000" b="1" dirty="0">
                <a:solidFill>
                  <a:srgbClr val="F2A65A"/>
                </a:solidFill>
                <a:latin typeface="Source Serif 4" pitchFamily="18" charset="0"/>
                <a:ea typeface="Source Serif 4" pitchFamily="18" charset="-122"/>
                <a:cs typeface="Source Serif 4" pitchFamily="18" charset="-120"/>
              </a:rPr>
              <a:t>1 in 7</a:t>
            </a:r>
            <a:endParaRPr lang="en-US" sz="12000" dirty="0"/>
          </a:p>
        </p:txBody>
      </p:sp>
      <p:sp>
        <p:nvSpPr>
          <p:cNvPr id="4" name="Text 2"/>
          <p:cNvSpPr/>
          <p:nvPr/>
        </p:nvSpPr>
        <p:spPr>
          <a:xfrm>
            <a:off x="4873784" y="2494279"/>
            <a:ext cx="6700579" cy="878840"/>
          </a:xfrm>
          <a:prstGeom prst="rect">
            <a:avLst/>
          </a:prstGeom>
          <a:noFill/>
          <a:ln/>
        </p:spPr>
        <p:txBody>
          <a:bodyPr wrap="square" lIns="0" tIns="0" rIns="0" bIns="0" rtlCol="0" anchor="t">
            <a:normAutofit/>
          </a:bodyPr>
          <a:lstStyle/>
          <a:p>
            <a:pPr algn="l" indent="0" marL="0">
              <a:lnSpc>
                <a:spcPts val="3360"/>
              </a:lnSpc>
              <a:buNone/>
            </a:pPr>
            <a:r>
              <a:rPr lang="en-US" sz="2800" dirty="0">
                <a:solidFill>
                  <a:srgbClr val="F6F4EE"/>
                </a:solidFill>
                <a:latin typeface="Source Serif 4" pitchFamily="18" charset="0"/>
                <a:ea typeface="Source Serif 4" pitchFamily="18" charset="-122"/>
                <a:cs typeface="Source Serif 4" pitchFamily="18" charset="-120"/>
              </a:rPr>
              <a:t>loans with a known outcome are in default.</a:t>
            </a:r>
            <a:endParaRPr lang="en-US" sz="2800" dirty="0"/>
          </a:p>
        </p:txBody>
      </p:sp>
      <p:sp>
        <p:nvSpPr>
          <p:cNvPr id="5" name="Text 3"/>
          <p:cNvSpPr/>
          <p:nvPr/>
        </p:nvSpPr>
        <p:spPr>
          <a:xfrm>
            <a:off x="4873784" y="3500121"/>
            <a:ext cx="6700579"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2D6"/>
                </a:solidFill>
                <a:latin typeface="IBM Plex Sans" pitchFamily="34" charset="0"/>
                <a:ea typeface="IBM Plex Sans" pitchFamily="34" charset="-122"/>
                <a:cs typeface="IBM Plex Sans" pitchFamily="34" charset="-120"/>
              </a:rPr>
              <a:t>116,710 of 836,042 loans · 14.0%</a:t>
            </a:r>
            <a:endParaRPr lang="en-US" sz="1600" dirty="0"/>
          </a:p>
        </p:txBody>
      </p:sp>
      <p:sp>
        <p:nvSpPr>
          <p:cNvPr id="6" name="Text 4"/>
          <p:cNvSpPr/>
          <p:nvPr/>
        </p:nvSpPr>
        <p:spPr>
          <a:xfrm>
            <a:off x="812800" y="5252721"/>
            <a:ext cx="9810750" cy="6146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D5DBE7"/>
                </a:solidFill>
                <a:latin typeface="IBM Plex Sans" pitchFamily="34" charset="0"/>
                <a:ea typeface="IBM Plex Sans" pitchFamily="34" charset="-122"/>
                <a:cs typeface="IBM Plex Sans" pitchFamily="34" charset="-120"/>
              </a:rPr>
              <a:t>And the gaps are not random: 40% of loans have no risk rating and 32% no income, mostly older loans. Analysis by rating or income will describe recent lending.</a:t>
            </a:r>
            <a:endParaRPr lang="en-US" sz="1600" dirty="0"/>
          </a:p>
        </p:txBody>
      </p:sp>
      <p:sp>
        <p:nvSpPr>
          <p:cNvPr id="7" name="Text 5"/>
          <p:cNvSpPr/>
          <p:nvPr/>
        </p:nvSpPr>
        <p:spPr>
          <a:xfrm>
            <a:off x="812800" y="6238242"/>
            <a:ext cx="25443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4BA"/>
                </a:solidFill>
                <a:latin typeface="IBM Plex Sans" pitchFamily="34" charset="0"/>
                <a:ea typeface="IBM Plex Sans" pitchFamily="34" charset="-122"/>
                <a:cs typeface="IBM Plex Sans" pitchFamily="34" charset="-120"/>
              </a:rPr>
              <a:t>Bondora credit risk · Standup 1</a:t>
            </a:r>
            <a:endParaRPr lang="en-US" sz="1200" dirty="0"/>
          </a:p>
        </p:txBody>
      </p:sp>
      <p:sp>
        <p:nvSpPr>
          <p:cNvPr id="8" name="Text 6"/>
          <p:cNvSpPr/>
          <p:nvPr/>
        </p:nvSpPr>
        <p:spPr>
          <a:xfrm>
            <a:off x="11145520" y="6238242"/>
            <a:ext cx="23368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A4BA"/>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theme/theme1.xml><?xml version="1.0" encoding="utf-8"?>
<a:theme xmlns:a="http://schemas.openxmlformats.org/drawingml/2006/main" name="Bondora Credit Risk – Standup 1">
  <a:themeElements>
    <a:clrScheme name="Bondora Credit Risk – Standup 1">
      <a:dk1>
        <a:srgbClr val="14213D"/>
      </a:dk1>
      <a:lt1>
        <a:srgbClr val="F6F4EE"/>
      </a:lt1>
      <a:dk2>
        <a:srgbClr val="4D5669"/>
      </a:dk2>
      <a:lt2>
        <a:srgbClr val="DFDFDC"/>
      </a:lt2>
      <a:accent1>
        <a:srgbClr val="F2A65A"/>
      </a:accent1>
      <a:accent2>
        <a:srgbClr val="B4501A"/>
      </a:accent2>
      <a:accent3>
        <a:srgbClr val="A84A16"/>
      </a:accent3>
      <a:accent4>
        <a:srgbClr val="4A5568"/>
      </a:accent4>
      <a:accent5>
        <a:srgbClr val="6B7280"/>
      </a:accent5>
      <a:accent6>
        <a:srgbClr val="5B6270"/>
      </a:accent6>
      <a:hlink>
        <a:srgbClr val="0563C1"/>
      </a:hlink>
      <a:folHlink>
        <a:srgbClr val="954F72"/>
      </a:folHlink>
    </a:clrScheme>
    <a:fontScheme name="Bondora Credit Risk – Standup 1">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Bondora Credit Risk – Standup 1</dc:title>
  <dc:subject/>
  <dc:creator/>
  <cp:lastModifiedBy/>
  <cp:revision>1</cp:revision>
  <dcterms:created xsi:type="dcterms:W3CDTF">2026-10-29T08:39:03Z</dcterms:created>
  <dcterms:modified xsi:type="dcterms:W3CDTF">2026-10-29T08:39:03Z</dcterms:modified>
</cp:coreProperties>
</file>