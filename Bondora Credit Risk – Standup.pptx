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Srinidhi and Mang. Our capstone looks at credit risk on Bondora, a peer-to-peer lending platform: which borrowers and which loans are most likely to default. This is standup 1, so I’ll cover the problem, stakeholders, KPIs, data source, our pipeline, who owns what, and where we are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Bondora, now called Go &amp; Grow, connects borrowers with investors. The investors carry the risk: if a borrower stops paying, the investor loses money. Our question is which borrower and loan characteristics go together with default, and how Bondora could use that for approving loans and for monitoring them once they’re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care about this. The credit-risk team decides who gets a loan and at what rate. Investors want to know where the risk sits. The monitoring or collections side wants early warning signs. And borrowers benefit indirectly from fair, consistent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KPI is the default rate: 13.7% of the 410,865 loans have defaulted. If we leave out the cancelled loans, which can never default, it’s 14.3%. Our coach asked us to keep the cancelled loans and analyse them, so we added a cancellation rate: 4.1% of loans, 16,784 in total, were cancelled shortly after payout. We flag them with is_cancelled, and next we’ll look at which countries, amounts and ratings have the most cancellations. Because young loans haven’t had time to default, we also use the 12-month default rate, only on loans whose first-year outcome is known: that’s 9.1%. The default rate by segment is where the real answer comes from. We’ve done the risk rating, and it rises from 5.5% for AA to 26.5% for G. Country, income, amount, interest rate and duration are next. And we checked every column for missing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Bondora’s public loan dataset from the Go &amp; Grow statistics page: 843,755 loans and 22 columns, issued between 2009 and 2026, across 8 countries. We analyse 410,865 loans issued from 2023 to 2025. Two reasons: before 2023, income and the risk rating were simply not recorded, so we couldn’t analyse them; and loans from 2026 are too young to tell us whether they will default. The only other rows we removed were 2 loans with no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has six steps, and the first three are done. We load the Excel file with pandas and save it as Parquet. We filter to loans issued 2023 to 2025, which takes us from 843,755 to 410,865 loans. Cleaning is finished: types are fixed, the risk rating is ordered from AA to HR, we dropped nr_of_payments, and every missing value is explained. We’re now on the KPIs: the default rate by rating is done, and country, income, amount, interest rate and duration are next. After that we load the clean data into a warehouse for SQL, build charts and a Tableau dashboard, try a simple model, and turn it into recommendations. Git and GitHub run through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all 21 columns for missing values; 14 have none, and every gap in the other seven has a reason. Most are missing by design. months_in_default is empty because the loan never defaulted, so we added a 0/1 flag. early_repaid_at is empty when a loan wasn’t paid off early, and next_payment_date when there is no payment left to make. 13.7% of loans have no risk rating: we don’t invent one, we put them in their own “Unrated” group. The 12-month flag is empty for loans younger than 12 months; we filled it where the outcome is already known, defaulted or repaid, and left the 25,466 still-active ones out of that KPI. months_on_book is only missing for cancelled loans. Our coach advised keeping the 16,784 cancelled loans, so we kept them and flagged them. In total we removed only 2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this split with Mang before presenting.] So far, Srinidhi has worked on the cleaning notebook and the documentation: README, data dictionary and the cleaning log. Mang set up the repository and Git LFS, which we need because the Excel file is too big for normal Git, and brought in the updated dataset. Everything is on GitHub: data, the notebook with its cleaning log, our daily goals, and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Finished: we filtered the data to 2023 to 2025, explained the missing values in every column, kept the cancelled loans with a flag as our coach advised, and calculated the two main KPIs: 13.7% overall and 9.1% within 12 months. Next: default rates for the other segments, charts in seaborn and Tableau, and loading the clean data into SQL. Open questions: written-off loans count as not defaulted in Bondora’s flag, although investors lost money on them, so we want to agree whether they should count as defaults. Two date columns mix real dates with Excel date numbers, which we’re converting. And the HR rating has only 19 loans, too few to draw conclusions. The evidence is in the notebook, the cleaning log, the README and the GitHub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insight to finish. Bondora’s own risk rating works: the default rate rises step by step from 5.5% for AA, the best grade, to 26.5% for G. So a G-rated loan defaults about five times as often as an AA loan. The second point is the unrated loans: 16.7% of them default, more than the 13.7% average. So when a loan has no rating, that’s already a warning sign. We left out HR because it has only 19 loans. Next we’ll check whether income, loan amount, interest rate and duration show patterns as clear as this.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881"/>
            <a:ext cx="10566400" cy="408431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881"/>
            <a:ext cx="10566400" cy="408431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IBM Plex Sans" pitchFamily="34" charset="0"/>
                <a:ea typeface="IBM Plex Sans" pitchFamily="34" charset="-122"/>
                <a:cs typeface="IBM Plex Sans" pitchFamily="34" charset="-120"/>
              </a:rPr>
              <a:t>CAPSTONE · STANDUP 1</a:t>
            </a:r>
            <a:endParaRPr lang="en-US" sz="1400" dirty="0"/>
          </a:p>
        </p:txBody>
      </p:sp>
      <p:sp>
        <p:nvSpPr>
          <p:cNvPr id="3" name="Text 1"/>
          <p:cNvSpPr/>
          <p:nvPr>
            <p:ph type="title"/>
          </p:nvPr>
        </p:nvSpPr>
        <p:spPr>
          <a:xfrm>
            <a:off x="812800" y="230251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E"/>
                </a:solidFill>
                <a:latin typeface="Source Serif 4" pitchFamily="18" charset="0"/>
                <a:ea typeface="Source Serif 4" pitchFamily="18" charset="-122"/>
                <a:cs typeface="Source Serif 4" pitchFamily="18" charset="-120"/>
              </a:rPr>
              <a:t>Credit risk in Bondora’s loan portfolio</a:t>
            </a:r>
            <a:endParaRPr lang="en-US" sz="6000" dirty="0"/>
          </a:p>
        </p:txBody>
      </p:sp>
      <p:sp>
        <p:nvSpPr>
          <p:cNvPr id="4" name="Text 2"/>
          <p:cNvSpPr/>
          <p:nvPr/>
        </p:nvSpPr>
        <p:spPr>
          <a:xfrm>
            <a:off x="812800" y="4156710"/>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2D6"/>
                </a:solidFill>
                <a:latin typeface="IBM Plex Sans" pitchFamily="34" charset="0"/>
                <a:ea typeface="IBM Plex Sans" pitchFamily="34" charset="-122"/>
                <a:cs typeface="IBM Plex Sans" pitchFamily="34" charset="-120"/>
              </a:rPr>
              <a:t>Which borrowers and loans are most likely to default?</a:t>
            </a:r>
            <a:endParaRPr lang="en-US" sz="2200" dirty="0"/>
          </a:p>
        </p:txBody>
      </p:sp>
      <p:sp>
        <p:nvSpPr>
          <p:cNvPr id="5" name="Text 3"/>
          <p:cNvSpPr/>
          <p:nvPr/>
        </p:nvSpPr>
        <p:spPr>
          <a:xfrm>
            <a:off x="812800" y="5760720"/>
            <a:ext cx="328650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Srinidhi Gokul · Mang Chin Par</a:t>
            </a:r>
            <a:endParaRPr lang="en-US" sz="1600" dirty="0"/>
          </a:p>
        </p:txBody>
      </p:sp>
      <p:sp>
        <p:nvSpPr>
          <p:cNvPr id="6" name="Text 4"/>
          <p:cNvSpPr/>
          <p:nvPr/>
        </p:nvSpPr>
        <p:spPr>
          <a:xfrm>
            <a:off x="9504966" y="5760720"/>
            <a:ext cx="1874234" cy="30988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B9C2D6"/>
                </a:solidFill>
                <a:latin typeface="IBM Plex Sans" pitchFamily="34" charset="0"/>
                <a:ea typeface="IBM Plex Sans" pitchFamily="34" charset="-122"/>
                <a:cs typeface="IBM Plex Sans" pitchFamily="34" charset="-120"/>
              </a:rPr>
              <a:t>30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PROBLEM STATEMENT</a:t>
            </a:r>
            <a:endParaRPr lang="en-US" sz="1200" dirty="0"/>
          </a:p>
        </p:txBody>
      </p:sp>
      <p:sp>
        <p:nvSpPr>
          <p:cNvPr id="3" name="Text 1"/>
          <p:cNvSpPr/>
          <p:nvPr>
            <p:ph type="title"/>
          </p:nvPr>
        </p:nvSpPr>
        <p:spPr>
          <a:xfrm>
            <a:off x="812800" y="1153160"/>
            <a:ext cx="113792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When borrowers default, investors lose money</a:t>
            </a:r>
            <a:endParaRPr lang="en-US" sz="3600" dirty="0"/>
          </a:p>
        </p:txBody>
      </p:sp>
      <p:sp>
        <p:nvSpPr>
          <p:cNvPr id="4" name="Text 2"/>
          <p:cNvSpPr/>
          <p:nvPr/>
        </p:nvSpPr>
        <p:spPr>
          <a:xfrm>
            <a:off x="812800" y="2011680"/>
            <a:ext cx="5232400"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Bondora (now Go &amp; Grow) is a European peer-to-peer lending platform. Borrowers apply online, and their loans are funded by investors rather than a bank.</a:t>
            </a:r>
            <a:endParaRPr lang="en-US" sz="1600" dirty="0"/>
          </a:p>
        </p:txBody>
      </p:sp>
      <p:sp>
        <p:nvSpPr>
          <p:cNvPr id="5" name="Text 3"/>
          <p:cNvSpPr/>
          <p:nvPr/>
        </p:nvSpPr>
        <p:spPr>
          <a:xfrm>
            <a:off x="812800" y="3073400"/>
            <a:ext cx="523240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Every default is a direct loss for those investors, so spotting risky borrowers and loans early matters.</a:t>
            </a:r>
            <a:endParaRPr lang="en-US" sz="1600" dirty="0"/>
          </a:p>
        </p:txBody>
      </p:sp>
      <p:sp>
        <p:nvSpPr>
          <p:cNvPr id="6" name="Shape 4"/>
          <p:cNvSpPr/>
          <p:nvPr/>
        </p:nvSpPr>
        <p:spPr>
          <a:xfrm>
            <a:off x="6299200" y="2011680"/>
            <a:ext cx="5080000" cy="2893060"/>
          </a:xfrm>
          <a:prstGeom prst="roundRect">
            <a:avLst>
              <a:gd name="adj" fmla="val 3512"/>
            </a:avLst>
          </a:prstGeom>
          <a:solidFill>
            <a:srgbClr val="14213D"/>
          </a:solidFill>
          <a:ln/>
        </p:spPr>
      </p:sp>
      <p:sp>
        <p:nvSpPr>
          <p:cNvPr id="7" name="Text 5"/>
          <p:cNvSpPr/>
          <p:nvPr/>
        </p:nvSpPr>
        <p:spPr>
          <a:xfrm>
            <a:off x="6654800" y="2367280"/>
            <a:ext cx="4499864"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65A"/>
                </a:solidFill>
                <a:latin typeface="IBM Plex Sans" pitchFamily="34" charset="0"/>
                <a:ea typeface="IBM Plex Sans" pitchFamily="34" charset="-122"/>
                <a:cs typeface="IBM Plex Sans" pitchFamily="34" charset="-120"/>
              </a:rPr>
              <a:t>RESEARCH QUESTION</a:t>
            </a:r>
            <a:endParaRPr lang="en-US" sz="1200" dirty="0"/>
          </a:p>
        </p:txBody>
      </p:sp>
      <p:sp>
        <p:nvSpPr>
          <p:cNvPr id="8" name="Text 6"/>
          <p:cNvSpPr/>
          <p:nvPr/>
        </p:nvSpPr>
        <p:spPr>
          <a:xfrm>
            <a:off x="6654800" y="2733040"/>
            <a:ext cx="4499864" cy="184150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Source Serif 4" pitchFamily="18" charset="0"/>
                <a:ea typeface="Source Serif 4" pitchFamily="18" charset="-122"/>
                <a:cs typeface="Source Serif 4" pitchFamily="18" charset="-120"/>
              </a:rPr>
              <a:t>Which borrower and loan characteristics are associated with default, and how can this improve credit-risk assessment and loan monitoring?</a:t>
            </a:r>
            <a:endParaRPr lang="en-US" sz="2200" dirty="0"/>
          </a:p>
        </p:txBody>
      </p:sp>
      <p:sp>
        <p:nvSpPr>
          <p:cNvPr id="9" name="Text 7"/>
          <p:cNvSpPr/>
          <p:nvPr/>
        </p:nvSpPr>
        <p:spPr>
          <a:xfrm>
            <a:off x="812800" y="6238241"/>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10" name="Text 8"/>
          <p:cNvSpPr/>
          <p:nvPr/>
        </p:nvSpPr>
        <p:spPr>
          <a:xfrm>
            <a:off x="11236960" y="623824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STAKEHOLDERS</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Who uses the answer</a:t>
            </a:r>
            <a:endParaRPr lang="en-US" sz="3600" dirty="0"/>
          </a:p>
        </p:txBody>
      </p:sp>
      <p:sp>
        <p:nvSpPr>
          <p:cNvPr id="4" name="Shape 2"/>
          <p:cNvSpPr/>
          <p:nvPr/>
        </p:nvSpPr>
        <p:spPr>
          <a:xfrm>
            <a:off x="815975" y="2014855"/>
            <a:ext cx="5175250" cy="1410970"/>
          </a:xfrm>
          <a:prstGeom prst="roundRect">
            <a:avLst>
              <a:gd name="adj" fmla="val 6976"/>
            </a:avLst>
          </a:prstGeom>
          <a:solidFill>
            <a:srgbClr val="FFFDF8"/>
          </a:solidFill>
          <a:ln w="6350">
            <a:solidFill>
              <a:srgbClr val="DDD7C8"/>
            </a:solidFill>
            <a:prstDash val="solid"/>
          </a:ln>
        </p:spPr>
      </p:sp>
      <p:pic>
        <p:nvPicPr>
          <p:cNvPr id="5" name="Image 0" descr="Chart">    </p:cNvPr>
          <p:cNvPicPr>
            <a:picLocks noChangeAspect="1"/>
          </p:cNvPicPr>
          <p:nvPr/>
        </p:nvPicPr>
        <p:blipFill>
          <a:blip r:embed="rId1"/>
          <a:srcRect l="0" r="0" t="0" b="0"/>
          <a:stretch/>
        </p:blipFill>
        <p:spPr>
          <a:xfrm>
            <a:off x="1097280" y="2296161"/>
            <a:ext cx="355600" cy="355600"/>
          </a:xfrm>
          <a:prstGeom prst="rect">
            <a:avLst/>
          </a:prstGeom>
        </p:spPr>
      </p:pic>
      <p:sp>
        <p:nvSpPr>
          <p:cNvPr id="6" name="Text 3"/>
          <p:cNvSpPr/>
          <p:nvPr/>
        </p:nvSpPr>
        <p:spPr>
          <a:xfrm>
            <a:off x="1656080" y="2296161"/>
            <a:ext cx="353595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Credit-risk team</a:t>
            </a:r>
            <a:endParaRPr lang="en-US" sz="1800" dirty="0"/>
          </a:p>
        </p:txBody>
      </p:sp>
      <p:sp>
        <p:nvSpPr>
          <p:cNvPr id="7" name="Text 4"/>
          <p:cNvSpPr/>
          <p:nvPr/>
        </p:nvSpPr>
        <p:spPr>
          <a:xfrm>
            <a:off x="1656080" y="2646680"/>
            <a:ext cx="411956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Better rules for approving and pricing loans</a:t>
            </a:r>
            <a:endParaRPr lang="en-US" sz="1400" dirty="0"/>
          </a:p>
        </p:txBody>
      </p:sp>
      <p:sp>
        <p:nvSpPr>
          <p:cNvPr id="8" name="Shape 5"/>
          <p:cNvSpPr/>
          <p:nvPr/>
        </p:nvSpPr>
        <p:spPr>
          <a:xfrm>
            <a:off x="6200775" y="2014855"/>
            <a:ext cx="5175250" cy="1410970"/>
          </a:xfrm>
          <a:prstGeom prst="roundRect">
            <a:avLst>
              <a:gd name="adj" fmla="val 6976"/>
            </a:avLst>
          </a:prstGeom>
          <a:solidFill>
            <a:srgbClr val="FFFDF8"/>
          </a:solidFill>
          <a:ln w="6350">
            <a:solidFill>
              <a:srgbClr val="DDD7C8"/>
            </a:solidFill>
            <a:prstDash val="solid"/>
          </a:ln>
        </p:spPr>
      </p:sp>
      <p:pic>
        <p:nvPicPr>
          <p:cNvPr id="9" name="Image 1" descr="Trust">    </p:cNvPr>
          <p:cNvPicPr>
            <a:picLocks noChangeAspect="1"/>
          </p:cNvPicPr>
          <p:nvPr/>
        </p:nvPicPr>
        <p:blipFill>
          <a:blip r:embed="rId2"/>
          <a:srcRect l="0" r="0" t="-80" b="-80"/>
          <a:stretch/>
        </p:blipFill>
        <p:spPr>
          <a:xfrm>
            <a:off x="6482080" y="2296161"/>
            <a:ext cx="348694" cy="355600"/>
          </a:xfrm>
          <a:prstGeom prst="rect">
            <a:avLst/>
          </a:prstGeom>
        </p:spPr>
      </p:pic>
      <p:sp>
        <p:nvSpPr>
          <p:cNvPr id="10" name="Text 6"/>
          <p:cNvSpPr/>
          <p:nvPr/>
        </p:nvSpPr>
        <p:spPr>
          <a:xfrm>
            <a:off x="7033975" y="2296161"/>
            <a:ext cx="418256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Investors</a:t>
            </a:r>
            <a:endParaRPr lang="en-US" sz="1800" dirty="0"/>
          </a:p>
        </p:txBody>
      </p:sp>
      <p:sp>
        <p:nvSpPr>
          <p:cNvPr id="11" name="Text 7"/>
          <p:cNvSpPr/>
          <p:nvPr/>
        </p:nvSpPr>
        <p:spPr>
          <a:xfrm>
            <a:off x="7033975" y="2646680"/>
            <a:ext cx="41825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Know which loans carry more risk before they invest</a:t>
            </a:r>
            <a:endParaRPr lang="en-US" sz="1400" dirty="0"/>
          </a:p>
        </p:txBody>
      </p:sp>
      <p:sp>
        <p:nvSpPr>
          <p:cNvPr id="12" name="Shape 8"/>
          <p:cNvSpPr/>
          <p:nvPr/>
        </p:nvSpPr>
        <p:spPr>
          <a:xfrm>
            <a:off x="815975" y="3635375"/>
            <a:ext cx="5175250" cy="1410970"/>
          </a:xfrm>
          <a:prstGeom prst="roundRect">
            <a:avLst>
              <a:gd name="adj" fmla="val 6976"/>
            </a:avLst>
          </a:prstGeom>
          <a:solidFill>
            <a:srgbClr val="FFFDF8"/>
          </a:solidFill>
          <a:ln w="6350">
            <a:solidFill>
              <a:srgbClr val="DDD7C8"/>
            </a:solidFill>
            <a:prstDash val="solid"/>
          </a:ln>
        </p:spPr>
      </p:sp>
      <p:pic>
        <p:nvPicPr>
          <p:cNvPr id="13" name="Image 2" descr="Warning">    </p:cNvPr>
          <p:cNvPicPr>
            <a:picLocks noChangeAspect="1"/>
          </p:cNvPicPr>
          <p:nvPr/>
        </p:nvPicPr>
        <p:blipFill>
          <a:blip r:embed="rId3"/>
          <a:srcRect l="0" r="0" t="-22" b="-22"/>
          <a:stretch/>
        </p:blipFill>
        <p:spPr>
          <a:xfrm>
            <a:off x="1097280" y="3916680"/>
            <a:ext cx="355441" cy="355600"/>
          </a:xfrm>
          <a:prstGeom prst="rect">
            <a:avLst/>
          </a:prstGeom>
        </p:spPr>
      </p:pic>
      <p:sp>
        <p:nvSpPr>
          <p:cNvPr id="14" name="Text 9"/>
          <p:cNvSpPr/>
          <p:nvPr/>
        </p:nvSpPr>
        <p:spPr>
          <a:xfrm>
            <a:off x="1655921" y="3916680"/>
            <a:ext cx="417561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Loan monitoring</a:t>
            </a:r>
            <a:endParaRPr lang="en-US" sz="1800" dirty="0"/>
          </a:p>
        </p:txBody>
      </p:sp>
      <p:sp>
        <p:nvSpPr>
          <p:cNvPr id="15" name="Text 10"/>
          <p:cNvSpPr/>
          <p:nvPr/>
        </p:nvSpPr>
        <p:spPr>
          <a:xfrm>
            <a:off x="1655921" y="4267200"/>
            <a:ext cx="417561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Early warning signs that a running loan is going bad</a:t>
            </a:r>
            <a:endParaRPr lang="en-US" sz="1400" dirty="0"/>
          </a:p>
        </p:txBody>
      </p:sp>
      <p:sp>
        <p:nvSpPr>
          <p:cNvPr id="16" name="Shape 11"/>
          <p:cNvSpPr/>
          <p:nvPr/>
        </p:nvSpPr>
        <p:spPr>
          <a:xfrm>
            <a:off x="6200775" y="3635375"/>
            <a:ext cx="5175250" cy="1410970"/>
          </a:xfrm>
          <a:prstGeom prst="roundRect">
            <a:avLst>
              <a:gd name="adj" fmla="val 6976"/>
            </a:avLst>
          </a:prstGeom>
          <a:solidFill>
            <a:srgbClr val="FFFDF8"/>
          </a:solidFill>
          <a:ln w="6350">
            <a:solidFill>
              <a:srgbClr val="DDD7C8"/>
            </a:solidFill>
            <a:prstDash val="solid"/>
          </a:ln>
        </p:spPr>
      </p:sp>
      <p:pic>
        <p:nvPicPr>
          <p:cNvPr id="17" name="Image 3" descr="Users">    </p:cNvPr>
          <p:cNvPicPr>
            <a:picLocks noChangeAspect="1"/>
          </p:cNvPicPr>
          <p:nvPr/>
        </p:nvPicPr>
        <p:blipFill>
          <a:blip r:embed="rId4"/>
          <a:srcRect l="0" r="0" t="0" b="0"/>
          <a:stretch/>
        </p:blipFill>
        <p:spPr>
          <a:xfrm>
            <a:off x="6482080" y="3916680"/>
            <a:ext cx="355600" cy="355600"/>
          </a:xfrm>
          <a:prstGeom prst="rect">
            <a:avLst/>
          </a:prstGeom>
        </p:spPr>
      </p:pic>
      <p:sp>
        <p:nvSpPr>
          <p:cNvPr id="18" name="Text 12"/>
          <p:cNvSpPr/>
          <p:nvPr/>
        </p:nvSpPr>
        <p:spPr>
          <a:xfrm>
            <a:off x="7040880" y="3916680"/>
            <a:ext cx="270605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Borrowers (indirect)</a:t>
            </a:r>
            <a:endParaRPr lang="en-US" sz="1800" dirty="0"/>
          </a:p>
        </p:txBody>
      </p:sp>
      <p:sp>
        <p:nvSpPr>
          <p:cNvPr id="19" name="Text 13"/>
          <p:cNvSpPr/>
          <p:nvPr/>
        </p:nvSpPr>
        <p:spPr>
          <a:xfrm>
            <a:off x="7040880" y="4267200"/>
            <a:ext cx="31526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Fair, consistent lending decisions</a:t>
            </a:r>
            <a:endParaRPr lang="en-US" sz="1400" dirty="0"/>
          </a:p>
        </p:txBody>
      </p:sp>
      <p:sp>
        <p:nvSpPr>
          <p:cNvPr id="20" name="Text 14"/>
          <p:cNvSpPr/>
          <p:nvPr/>
        </p:nvSpPr>
        <p:spPr>
          <a:xfrm>
            <a:off x="812800" y="6238241"/>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21" name="Text 15"/>
          <p:cNvSpPr/>
          <p:nvPr/>
        </p:nvSpPr>
        <p:spPr>
          <a:xfrm>
            <a:off x="11236960" y="6238241"/>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KPIS</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How we measure risk, and first results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021840"/>
          <a:ext cx="10556240" cy="3065780"/>
        </p:xfrm>
        <a:graphic>
          <a:graphicData uri="http://schemas.openxmlformats.org/drawingml/2006/table">
            <a:tbl>
              <a:tblPr/>
              <a:tblGrid>
                <a:gridCol w="2744622"/>
                <a:gridCol w="4011371"/>
                <a:gridCol w="3800246"/>
              </a:tblGrid>
              <a:tr h="356870">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KPI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Definition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Result so far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8801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Default rate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Share of loans in default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13.7% (56,364 of 410,865); 14.3% without cancelled loans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8801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Cancellation rate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Share of loans cancelled shortly after payout (kept, flagged)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4.1% (16,784 loans); analysis by segment next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58801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12-month default rate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Defaults in a loan’s first year, for loans with a known outcome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9.1% (of 385,399 loans)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58801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Default rate by segment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By risk rating, country, income, amount, interest rate, duration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Rating done: AA 5.5% → G 26.5%; others next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Data completeness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Share missing per column, and why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All 21 columns checked and explained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bl>
          </a:graphicData>
        </a:graphic>
      </p:graphicFrame>
      <p:sp>
        <p:nvSpPr>
          <p:cNvPr id="5" name="Text 2"/>
          <p:cNvSpPr/>
          <p:nvPr/>
        </p:nvSpPr>
        <p:spPr>
          <a:xfrm>
            <a:off x="812800" y="6238239"/>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6" name="Text 3"/>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6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A16"/>
                </a:solidFill>
                <a:latin typeface="IBM Plex Sans" pitchFamily="34" charset="0"/>
                <a:ea typeface="IBM Plex Sans" pitchFamily="34" charset="-122"/>
                <a:cs typeface="IBM Plex Sans" pitchFamily="34" charset="-120"/>
              </a:rPr>
              <a:t>DATA SOURCE</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Bondora’s public loan dataset</a:t>
            </a:r>
            <a:endParaRPr lang="en-US" sz="3600" dirty="0"/>
          </a:p>
        </p:txBody>
      </p:sp>
      <p:sp>
        <p:nvSpPr>
          <p:cNvPr id="4" name="Shape 2"/>
          <p:cNvSpPr/>
          <p:nvPr/>
        </p:nvSpPr>
        <p:spPr>
          <a:xfrm>
            <a:off x="812800" y="2011682"/>
            <a:ext cx="3386614" cy="1447800"/>
          </a:xfrm>
          <a:prstGeom prst="roundRect">
            <a:avLst>
              <a:gd name="adj" fmla="val 7018"/>
            </a:avLst>
          </a:prstGeom>
          <a:solidFill>
            <a:srgbClr val="F6F4EE"/>
          </a:solidFill>
          <a:ln/>
        </p:spPr>
      </p:sp>
      <p:sp>
        <p:nvSpPr>
          <p:cNvPr id="5" name="Text 3"/>
          <p:cNvSpPr/>
          <p:nvPr/>
        </p:nvSpPr>
        <p:spPr>
          <a:xfrm>
            <a:off x="1066800" y="2265682"/>
            <a:ext cx="3069620"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4213D"/>
                </a:solidFill>
                <a:latin typeface="Source Serif 4" pitchFamily="18" charset="0"/>
                <a:ea typeface="Source Serif 4" pitchFamily="18" charset="-122"/>
                <a:cs typeface="Source Serif 4" pitchFamily="18" charset="-120"/>
              </a:rPr>
              <a:t>843,755</a:t>
            </a:r>
            <a:endParaRPr lang="en-US" sz="4400" dirty="0"/>
          </a:p>
        </p:txBody>
      </p:sp>
      <p:sp>
        <p:nvSpPr>
          <p:cNvPr id="6" name="Text 4"/>
          <p:cNvSpPr/>
          <p:nvPr/>
        </p:nvSpPr>
        <p:spPr>
          <a:xfrm>
            <a:off x="1066800" y="2956561"/>
            <a:ext cx="30696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loans in the raw file, 2009–2026</a:t>
            </a:r>
            <a:endParaRPr lang="en-US" sz="1400" dirty="0"/>
          </a:p>
        </p:txBody>
      </p:sp>
      <p:sp>
        <p:nvSpPr>
          <p:cNvPr id="7" name="Shape 5"/>
          <p:cNvSpPr/>
          <p:nvPr/>
        </p:nvSpPr>
        <p:spPr>
          <a:xfrm>
            <a:off x="4402614" y="2011682"/>
            <a:ext cx="3386693" cy="1447800"/>
          </a:xfrm>
          <a:prstGeom prst="roundRect">
            <a:avLst>
              <a:gd name="adj" fmla="val 7018"/>
            </a:avLst>
          </a:prstGeom>
          <a:solidFill>
            <a:srgbClr val="14213D"/>
          </a:solidFill>
          <a:ln/>
        </p:spPr>
      </p:sp>
      <p:sp>
        <p:nvSpPr>
          <p:cNvPr id="8" name="Text 6"/>
          <p:cNvSpPr/>
          <p:nvPr/>
        </p:nvSpPr>
        <p:spPr>
          <a:xfrm>
            <a:off x="4656614" y="2265682"/>
            <a:ext cx="3069702"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2A65A"/>
                </a:solidFill>
                <a:latin typeface="Source Serif 4" pitchFamily="18" charset="0"/>
                <a:ea typeface="Source Serif 4" pitchFamily="18" charset="-122"/>
                <a:cs typeface="Source Serif 4" pitchFamily="18" charset="-120"/>
              </a:rPr>
              <a:t>410,865</a:t>
            </a:r>
            <a:endParaRPr lang="en-US" sz="4400" dirty="0"/>
          </a:p>
        </p:txBody>
      </p:sp>
      <p:sp>
        <p:nvSpPr>
          <p:cNvPr id="9" name="Text 7"/>
          <p:cNvSpPr/>
          <p:nvPr/>
        </p:nvSpPr>
        <p:spPr>
          <a:xfrm>
            <a:off x="4656614" y="2956561"/>
            <a:ext cx="30697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5DBE7"/>
                </a:solidFill>
                <a:latin typeface="IBM Plex Sans" pitchFamily="34" charset="0"/>
                <a:ea typeface="IBM Plex Sans" pitchFamily="34" charset="-122"/>
                <a:cs typeface="IBM Plex Sans" pitchFamily="34" charset="-120"/>
              </a:rPr>
              <a:t>loans analysed, issued 2023–2025</a:t>
            </a:r>
            <a:endParaRPr lang="en-US" sz="1400" dirty="0"/>
          </a:p>
        </p:txBody>
      </p:sp>
      <p:sp>
        <p:nvSpPr>
          <p:cNvPr id="10" name="Shape 8"/>
          <p:cNvSpPr/>
          <p:nvPr/>
        </p:nvSpPr>
        <p:spPr>
          <a:xfrm>
            <a:off x="7992507" y="2011682"/>
            <a:ext cx="3386693" cy="1447800"/>
          </a:xfrm>
          <a:prstGeom prst="roundRect">
            <a:avLst>
              <a:gd name="adj" fmla="val 7018"/>
            </a:avLst>
          </a:prstGeom>
          <a:solidFill>
            <a:srgbClr val="F6F4EE"/>
          </a:solidFill>
          <a:ln/>
        </p:spPr>
      </p:sp>
      <p:sp>
        <p:nvSpPr>
          <p:cNvPr id="11" name="Text 9"/>
          <p:cNvSpPr/>
          <p:nvPr/>
        </p:nvSpPr>
        <p:spPr>
          <a:xfrm>
            <a:off x="8246507" y="2265682"/>
            <a:ext cx="3069702"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4213D"/>
                </a:solidFill>
                <a:latin typeface="Source Serif 4" pitchFamily="18" charset="0"/>
                <a:ea typeface="Source Serif 4" pitchFamily="18" charset="-122"/>
                <a:cs typeface="Source Serif 4" pitchFamily="18" charset="-120"/>
              </a:rPr>
              <a:t>22 · 8</a:t>
            </a:r>
            <a:endParaRPr lang="en-US" sz="4400" dirty="0"/>
          </a:p>
        </p:txBody>
      </p:sp>
      <p:sp>
        <p:nvSpPr>
          <p:cNvPr id="12" name="Text 10"/>
          <p:cNvSpPr/>
          <p:nvPr/>
        </p:nvSpPr>
        <p:spPr>
          <a:xfrm>
            <a:off x="8246507" y="2956561"/>
            <a:ext cx="306970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columns · countries</a:t>
            </a:r>
            <a:endParaRPr lang="en-US" sz="1400" dirty="0"/>
          </a:p>
        </p:txBody>
      </p:sp>
      <p:sp>
        <p:nvSpPr>
          <p:cNvPr id="13" name="Text 11"/>
          <p:cNvSpPr/>
          <p:nvPr/>
        </p:nvSpPr>
        <p:spPr>
          <a:xfrm>
            <a:off x="812800" y="3815082"/>
            <a:ext cx="10883392"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Why 2023–2025:</a:t>
            </a:r>
            <a:r>
              <a:rPr lang="en-US" sz="1500" dirty="0">
                <a:solidFill>
                  <a:srgbClr val="14213D"/>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income and risk rating are only recorded from 2023 on, and loans from 2026 are too young to show whether they default.</a:t>
            </a:r>
            <a:endParaRPr lang="en-US" sz="1500" dirty="0"/>
          </a:p>
        </p:txBody>
      </p:sp>
      <p:sp>
        <p:nvSpPr>
          <p:cNvPr id="14" name="Text 12"/>
          <p:cNvSpPr/>
          <p:nvPr/>
        </p:nvSpPr>
        <p:spPr>
          <a:xfrm>
            <a:off x="812800" y="4469132"/>
            <a:ext cx="10883392"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Source:</a:t>
            </a:r>
            <a:r>
              <a:rPr lang="en-US" sz="1500" dirty="0">
                <a:solidFill>
                  <a:srgbClr val="14213D"/>
                </a:solidFill>
                <a:latin typeface="IBM Plex Sans" pitchFamily="34" charset="0"/>
                <a:ea typeface="IBM Plex Sans" pitchFamily="34" charset="-122"/>
                <a:cs typeface="IBM Plex Sans" pitchFamily="34" charset="-120"/>
              </a:rPr>
              <a:t> </a:t>
            </a:r>
            <a:r>
              <a:rPr lang="en-US" sz="1500" dirty="0">
                <a:solidFill>
                  <a:srgbClr val="4A5568"/>
                </a:solidFill>
                <a:latin typeface="IBM Plex Sans" pitchFamily="34" charset="0"/>
                <a:ea typeface="IBM Plex Sans" pitchFamily="34" charset="-122"/>
                <a:cs typeface="IBM Plex Sans" pitchFamily="34" charset="-120"/>
              </a:rPr>
              <a:t>Go &amp; Grow public statistics page, file </a:t>
            </a:r>
            <a:r>
              <a:rPr lang="en-US" sz="1500" i="1" dirty="0">
                <a:solidFill>
                  <a:srgbClr val="4A5568"/>
                </a:solidFill>
                <a:latin typeface="IBM Plex Sans" pitchFamily="34" charset="0"/>
                <a:ea typeface="IBM Plex Sans" pitchFamily="34" charset="-122"/>
                <a:cs typeface="IBM Plex Sans" pitchFamily="34" charset="-120"/>
              </a:rPr>
              <a:t>Modified_loan_dataset_investor.xlsx</a:t>
            </a:r>
            <a:r>
              <a:rPr lang="en-US" sz="1500" dirty="0">
                <a:solidFill>
                  <a:srgbClr val="4A5568"/>
                </a:solidFill>
                <a:latin typeface="IBM Plex Sans" pitchFamily="34" charset="0"/>
                <a:ea typeface="IBM Plex Sans" pitchFamily="34" charset="-122"/>
                <a:cs typeface="IBM Plex Sans" pitchFamily="34" charset="-120"/>
              </a:rPr>
              <a:t>, with a data dictionary sheet.</a:t>
            </a:r>
            <a:endParaRPr lang="en-US" sz="1500" dirty="0"/>
          </a:p>
        </p:txBody>
      </p:sp>
      <p:sp>
        <p:nvSpPr>
          <p:cNvPr id="15" name="Text 13"/>
          <p:cNvSpPr/>
          <p:nvPr/>
        </p:nvSpPr>
        <p:spPr>
          <a:xfrm>
            <a:off x="812800" y="6238239"/>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16" name="Text 14"/>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E6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A16"/>
                </a:solidFill>
                <a:latin typeface="IBM Plex Sans" pitchFamily="34" charset="0"/>
                <a:ea typeface="IBM Plex Sans" pitchFamily="34" charset="-122"/>
                <a:cs typeface="IBM Plex Sans" pitchFamily="34" charset="-120"/>
              </a:rPr>
              <a:t>PIPELINE</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From raw Excel to recommendations</a:t>
            </a:r>
            <a:endParaRPr lang="en-US" sz="3600" dirty="0"/>
          </a:p>
        </p:txBody>
      </p:sp>
      <p:sp>
        <p:nvSpPr>
          <p:cNvPr id="4" name="Shape 2"/>
          <p:cNvSpPr/>
          <p:nvPr/>
        </p:nvSpPr>
        <p:spPr>
          <a:xfrm>
            <a:off x="812800" y="1960882"/>
            <a:ext cx="3386614" cy="1384300"/>
          </a:xfrm>
          <a:prstGeom prst="roundRect">
            <a:avLst>
              <a:gd name="adj" fmla="val 7339"/>
            </a:avLst>
          </a:prstGeom>
          <a:solidFill>
            <a:srgbClr val="F6F4EE"/>
          </a:solidFill>
          <a:ln/>
        </p:spPr>
      </p:sp>
      <p:sp>
        <p:nvSpPr>
          <p:cNvPr id="5" name="Shape 3"/>
          <p:cNvSpPr/>
          <p:nvPr/>
        </p:nvSpPr>
        <p:spPr>
          <a:xfrm>
            <a:off x="812800" y="1960882"/>
            <a:ext cx="3386614" cy="1384300"/>
          </a:xfrm>
          <a:custGeom>
            <a:avLst/>
            <a:gdLst/>
            <a:ahLst/>
            <a:cxnLst/>
            <a:rect l="l" t="t" r="r" b="b"/>
            <a:pathLst>
              <a:path w="3386614" h="1384300">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14213D"/>
          </a:solidFill>
          <a:ln/>
        </p:spPr>
      </p:sp>
      <p:sp>
        <p:nvSpPr>
          <p:cNvPr id="6" name="Text 4"/>
          <p:cNvSpPr/>
          <p:nvPr/>
        </p:nvSpPr>
        <p:spPr>
          <a:xfrm>
            <a:off x="1041400" y="2247900"/>
            <a:ext cx="100241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1 · Load</a:t>
            </a:r>
            <a:endParaRPr lang="en-US" sz="1800" dirty="0"/>
          </a:p>
        </p:txBody>
      </p:sp>
      <p:sp>
        <p:nvSpPr>
          <p:cNvPr id="7" name="Text 5"/>
          <p:cNvSpPr/>
          <p:nvPr/>
        </p:nvSpPr>
        <p:spPr>
          <a:xfrm>
            <a:off x="3376692" y="2240282"/>
            <a:ext cx="594122" cy="289560"/>
          </a:xfrm>
          <a:custGeom>
            <a:avLst/>
            <a:gdLst/>
            <a:ahLst/>
            <a:cxnLst/>
            <a:rect l="l" t="t" r="r" b="b"/>
            <a:pathLst>
              <a:path w="594122" h="289560">
                <a:moveTo>
                  <a:pt x="144780" y="0"/>
                </a:moveTo>
                <a:lnTo>
                  <a:pt x="449342" y="0"/>
                </a:lnTo>
                <a:arcTo hR="144780" wR="144780" stAng="16200000" swAng="5400000"/>
                <a:lnTo>
                  <a:pt x="594122" y="144780"/>
                </a:lnTo>
                <a:arcTo hR="144780" wR="144780" stAng="0" swAng="5400000"/>
                <a:lnTo>
                  <a:pt x="144780" y="289560"/>
                </a:lnTo>
                <a:arcTo hR="144780" wR="144780" stAng="5400000" swAng="5400000"/>
                <a:lnTo>
                  <a:pt x="0" y="144780"/>
                </a:lnTo>
                <a:arcTo hR="144780" wR="144780" stAng="10800000" swAng="5400000"/>
                <a:close/>
              </a:path>
            </a:pathLst>
          </a:cu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Done</a:t>
            </a:r>
            <a:endParaRPr lang="en-US" sz="1200" dirty="0"/>
          </a:p>
        </p:txBody>
      </p:sp>
      <p:sp>
        <p:nvSpPr>
          <p:cNvPr id="8" name="Text 6"/>
          <p:cNvSpPr/>
          <p:nvPr/>
        </p:nvSpPr>
        <p:spPr>
          <a:xfrm>
            <a:off x="1041400" y="2618739"/>
            <a:ext cx="30172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Excel → pandas → Parquet for fast reloads</a:t>
            </a:r>
            <a:endParaRPr lang="en-US" sz="1400" dirty="0"/>
          </a:p>
        </p:txBody>
      </p:sp>
      <p:sp>
        <p:nvSpPr>
          <p:cNvPr id="9" name="Shape 7"/>
          <p:cNvSpPr/>
          <p:nvPr/>
        </p:nvSpPr>
        <p:spPr>
          <a:xfrm>
            <a:off x="4402614" y="1960882"/>
            <a:ext cx="3386693" cy="1384300"/>
          </a:xfrm>
          <a:prstGeom prst="roundRect">
            <a:avLst>
              <a:gd name="adj" fmla="val 7339"/>
            </a:avLst>
          </a:prstGeom>
          <a:solidFill>
            <a:srgbClr val="F6F4EE"/>
          </a:solidFill>
          <a:ln/>
        </p:spPr>
      </p:sp>
      <p:sp>
        <p:nvSpPr>
          <p:cNvPr id="10" name="Shape 8"/>
          <p:cNvSpPr/>
          <p:nvPr/>
        </p:nvSpPr>
        <p:spPr>
          <a:xfrm>
            <a:off x="4402614" y="1960882"/>
            <a:ext cx="3386693" cy="1384300"/>
          </a:xfrm>
          <a:custGeom>
            <a:avLst/>
            <a:gdLst/>
            <a:ahLst/>
            <a:cxnLst/>
            <a:rect l="l" t="t" r="r" b="b"/>
            <a:pathLst>
              <a:path w="3386693" h="138430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14213D"/>
          </a:solidFill>
          <a:ln/>
        </p:spPr>
      </p:sp>
      <p:sp>
        <p:nvSpPr>
          <p:cNvPr id="11" name="Text 9"/>
          <p:cNvSpPr/>
          <p:nvPr/>
        </p:nvSpPr>
        <p:spPr>
          <a:xfrm>
            <a:off x="4631214" y="2247900"/>
            <a:ext cx="10652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2 · Filter</a:t>
            </a:r>
            <a:endParaRPr lang="en-US" sz="1800" dirty="0"/>
          </a:p>
        </p:txBody>
      </p:sp>
      <p:sp>
        <p:nvSpPr>
          <p:cNvPr id="12" name="Text 10"/>
          <p:cNvSpPr/>
          <p:nvPr/>
        </p:nvSpPr>
        <p:spPr>
          <a:xfrm>
            <a:off x="6966585" y="2240282"/>
            <a:ext cx="594122" cy="289560"/>
          </a:xfrm>
          <a:custGeom>
            <a:avLst/>
            <a:gdLst/>
            <a:ahLst/>
            <a:cxnLst/>
            <a:rect l="l" t="t" r="r" b="b"/>
            <a:pathLst>
              <a:path w="594122" h="289560">
                <a:moveTo>
                  <a:pt x="144780" y="0"/>
                </a:moveTo>
                <a:lnTo>
                  <a:pt x="449342" y="0"/>
                </a:lnTo>
                <a:arcTo hR="144780" wR="144780" stAng="16200000" swAng="5400000"/>
                <a:lnTo>
                  <a:pt x="594122" y="144780"/>
                </a:lnTo>
                <a:arcTo hR="144780" wR="144780" stAng="0" swAng="5400000"/>
                <a:lnTo>
                  <a:pt x="144780" y="289560"/>
                </a:lnTo>
                <a:arcTo hR="144780" wR="144780" stAng="5400000" swAng="5400000"/>
                <a:lnTo>
                  <a:pt x="0" y="144780"/>
                </a:lnTo>
                <a:arcTo hR="144780" wR="144780" stAng="10800000" swAng="5400000"/>
                <a:close/>
              </a:path>
            </a:pathLst>
          </a:cu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Done</a:t>
            </a:r>
            <a:endParaRPr lang="en-US" sz="1200" dirty="0"/>
          </a:p>
        </p:txBody>
      </p:sp>
      <p:sp>
        <p:nvSpPr>
          <p:cNvPr id="13" name="Text 11"/>
          <p:cNvSpPr/>
          <p:nvPr/>
        </p:nvSpPr>
        <p:spPr>
          <a:xfrm>
            <a:off x="4631214" y="2618739"/>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Keep 2023–2025: 843,755 → 410,865 loans</a:t>
            </a:r>
            <a:endParaRPr lang="en-US" sz="1400" dirty="0"/>
          </a:p>
        </p:txBody>
      </p:sp>
      <p:sp>
        <p:nvSpPr>
          <p:cNvPr id="14" name="Shape 12"/>
          <p:cNvSpPr/>
          <p:nvPr/>
        </p:nvSpPr>
        <p:spPr>
          <a:xfrm>
            <a:off x="7992507" y="1960882"/>
            <a:ext cx="3386693" cy="1384300"/>
          </a:xfrm>
          <a:prstGeom prst="roundRect">
            <a:avLst>
              <a:gd name="adj" fmla="val 7339"/>
            </a:avLst>
          </a:prstGeom>
          <a:solidFill>
            <a:srgbClr val="F6F4EE"/>
          </a:solidFill>
          <a:ln/>
        </p:spPr>
      </p:sp>
      <p:sp>
        <p:nvSpPr>
          <p:cNvPr id="15" name="Shape 13"/>
          <p:cNvSpPr/>
          <p:nvPr/>
        </p:nvSpPr>
        <p:spPr>
          <a:xfrm>
            <a:off x="7992507" y="1960882"/>
            <a:ext cx="3386693" cy="1384300"/>
          </a:xfrm>
          <a:custGeom>
            <a:avLst/>
            <a:gdLst/>
            <a:ahLst/>
            <a:cxnLst/>
            <a:rect l="l" t="t" r="r" b="b"/>
            <a:pathLst>
              <a:path w="3386693" h="138430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14213D"/>
          </a:solidFill>
          <a:ln/>
        </p:spPr>
      </p:sp>
      <p:sp>
        <p:nvSpPr>
          <p:cNvPr id="16" name="Text 14"/>
          <p:cNvSpPr/>
          <p:nvPr/>
        </p:nvSpPr>
        <p:spPr>
          <a:xfrm>
            <a:off x="8221107" y="2247900"/>
            <a:ext cx="11143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3 · Clean</a:t>
            </a:r>
            <a:endParaRPr lang="en-US" sz="1800" dirty="0"/>
          </a:p>
        </p:txBody>
      </p:sp>
      <p:sp>
        <p:nvSpPr>
          <p:cNvPr id="17" name="Text 15"/>
          <p:cNvSpPr/>
          <p:nvPr/>
        </p:nvSpPr>
        <p:spPr>
          <a:xfrm>
            <a:off x="10556478" y="2240282"/>
            <a:ext cx="594122" cy="289560"/>
          </a:xfrm>
          <a:custGeom>
            <a:avLst/>
            <a:gdLst/>
            <a:ahLst/>
            <a:cxnLst/>
            <a:rect l="l" t="t" r="r" b="b"/>
            <a:pathLst>
              <a:path w="594122" h="289560">
                <a:moveTo>
                  <a:pt x="144780" y="0"/>
                </a:moveTo>
                <a:lnTo>
                  <a:pt x="449342" y="0"/>
                </a:lnTo>
                <a:arcTo hR="144780" wR="144780" stAng="16200000" swAng="5400000"/>
                <a:lnTo>
                  <a:pt x="594122" y="144780"/>
                </a:lnTo>
                <a:arcTo hR="144780" wR="144780" stAng="0" swAng="5400000"/>
                <a:lnTo>
                  <a:pt x="144780" y="289560"/>
                </a:lnTo>
                <a:arcTo hR="144780" wR="144780" stAng="5400000" swAng="5400000"/>
                <a:lnTo>
                  <a:pt x="0" y="144780"/>
                </a:lnTo>
                <a:arcTo hR="144780" wR="144780" stAng="10800000" swAng="5400000"/>
                <a:close/>
              </a:path>
            </a:pathLst>
          </a:cu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Done</a:t>
            </a:r>
            <a:endParaRPr lang="en-US" sz="1200" dirty="0"/>
          </a:p>
        </p:txBody>
      </p:sp>
      <p:sp>
        <p:nvSpPr>
          <p:cNvPr id="18" name="Text 16"/>
          <p:cNvSpPr/>
          <p:nvPr/>
        </p:nvSpPr>
        <p:spPr>
          <a:xfrm>
            <a:off x="8221107" y="2618739"/>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Fix types, explain every gap, flag cancelled and unrated loans</a:t>
            </a:r>
            <a:endParaRPr lang="en-US" sz="1400" dirty="0"/>
          </a:p>
        </p:txBody>
      </p:sp>
      <p:sp>
        <p:nvSpPr>
          <p:cNvPr id="19" name="Shape 17"/>
          <p:cNvSpPr/>
          <p:nvPr/>
        </p:nvSpPr>
        <p:spPr>
          <a:xfrm>
            <a:off x="812800" y="3548382"/>
            <a:ext cx="3386614" cy="1384300"/>
          </a:xfrm>
          <a:prstGeom prst="roundRect">
            <a:avLst>
              <a:gd name="adj" fmla="val 7339"/>
            </a:avLst>
          </a:prstGeom>
          <a:solidFill>
            <a:srgbClr val="F6F4EE"/>
          </a:solidFill>
          <a:ln/>
        </p:spPr>
      </p:sp>
      <p:sp>
        <p:nvSpPr>
          <p:cNvPr id="20" name="Shape 18"/>
          <p:cNvSpPr/>
          <p:nvPr/>
        </p:nvSpPr>
        <p:spPr>
          <a:xfrm>
            <a:off x="812800" y="3548382"/>
            <a:ext cx="3386614" cy="1384300"/>
          </a:xfrm>
          <a:custGeom>
            <a:avLst/>
            <a:gdLst/>
            <a:ahLst/>
            <a:cxnLst/>
            <a:rect l="l" t="t" r="r" b="b"/>
            <a:pathLst>
              <a:path w="3386614" h="1384300">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C2571B"/>
          </a:solidFill>
          <a:ln/>
        </p:spPr>
      </p:sp>
      <p:sp>
        <p:nvSpPr>
          <p:cNvPr id="21" name="Text 19"/>
          <p:cNvSpPr/>
          <p:nvPr/>
        </p:nvSpPr>
        <p:spPr>
          <a:xfrm>
            <a:off x="1041400" y="3835400"/>
            <a:ext cx="100364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4 · KPIs</a:t>
            </a:r>
            <a:endParaRPr lang="en-US" sz="1800" dirty="0"/>
          </a:p>
        </p:txBody>
      </p:sp>
      <p:sp>
        <p:nvSpPr>
          <p:cNvPr id="22" name="Text 20"/>
          <p:cNvSpPr/>
          <p:nvPr/>
        </p:nvSpPr>
        <p:spPr>
          <a:xfrm>
            <a:off x="2937431" y="3827782"/>
            <a:ext cx="1033383" cy="289560"/>
          </a:xfrm>
          <a:custGeom>
            <a:avLst/>
            <a:gdLst/>
            <a:ahLst/>
            <a:cxnLst/>
            <a:rect l="l" t="t" r="r" b="b"/>
            <a:pathLst>
              <a:path w="1033383" h="289560">
                <a:moveTo>
                  <a:pt x="144780" y="0"/>
                </a:moveTo>
                <a:lnTo>
                  <a:pt x="888603" y="0"/>
                </a:lnTo>
                <a:arcTo hR="144780" wR="144780" stAng="16200000" swAng="5400000"/>
                <a:lnTo>
                  <a:pt x="1033383" y="144780"/>
                </a:lnTo>
                <a:arcTo hR="144780" wR="144780" stAng="0" swAng="5400000"/>
                <a:lnTo>
                  <a:pt x="144780" y="289560"/>
                </a:lnTo>
                <a:arcTo hR="144780" wR="144780" stAng="5400000" swAng="5400000"/>
                <a:lnTo>
                  <a:pt x="0" y="144780"/>
                </a:lnTo>
                <a:arcTo hR="144780" wR="144780" stAng="10800000" swAng="5400000"/>
                <a:close/>
              </a:path>
            </a:pathLst>
          </a:custGeom>
          <a:solidFill>
            <a:srgbClr val="F2A65A"/>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In progress</a:t>
            </a:r>
            <a:endParaRPr lang="en-US" sz="1200" dirty="0"/>
          </a:p>
        </p:txBody>
      </p:sp>
      <p:sp>
        <p:nvSpPr>
          <p:cNvPr id="23" name="Text 21"/>
          <p:cNvSpPr/>
          <p:nvPr/>
        </p:nvSpPr>
        <p:spPr>
          <a:xfrm>
            <a:off x="1041400" y="4206239"/>
            <a:ext cx="30172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Default rate by rating done; other segments next</a:t>
            </a:r>
            <a:endParaRPr lang="en-US" sz="1400" dirty="0"/>
          </a:p>
        </p:txBody>
      </p:sp>
      <p:sp>
        <p:nvSpPr>
          <p:cNvPr id="24" name="Shape 22"/>
          <p:cNvSpPr/>
          <p:nvPr/>
        </p:nvSpPr>
        <p:spPr>
          <a:xfrm>
            <a:off x="4402614" y="3548382"/>
            <a:ext cx="3386693" cy="1384300"/>
          </a:xfrm>
          <a:prstGeom prst="roundRect">
            <a:avLst>
              <a:gd name="adj" fmla="val 7339"/>
            </a:avLst>
          </a:prstGeom>
          <a:solidFill>
            <a:srgbClr val="F6F4EE"/>
          </a:solidFill>
          <a:ln/>
        </p:spPr>
      </p:sp>
      <p:sp>
        <p:nvSpPr>
          <p:cNvPr id="25" name="Shape 23"/>
          <p:cNvSpPr/>
          <p:nvPr/>
        </p:nvSpPr>
        <p:spPr>
          <a:xfrm>
            <a:off x="4402614" y="3548382"/>
            <a:ext cx="3386693" cy="1384300"/>
          </a:xfrm>
          <a:custGeom>
            <a:avLst/>
            <a:gdLst/>
            <a:ahLst/>
            <a:cxnLst/>
            <a:rect l="l" t="t" r="r" b="b"/>
            <a:pathLst>
              <a:path w="3386693" h="138430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A9A391"/>
          </a:solidFill>
          <a:ln/>
        </p:spPr>
      </p:sp>
      <p:sp>
        <p:nvSpPr>
          <p:cNvPr id="26" name="Text 24"/>
          <p:cNvSpPr/>
          <p:nvPr/>
        </p:nvSpPr>
        <p:spPr>
          <a:xfrm>
            <a:off x="4631214" y="3832861"/>
            <a:ext cx="202453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5 · SQL &amp; charts</a:t>
            </a:r>
            <a:endParaRPr lang="en-US" sz="1800" dirty="0"/>
          </a:p>
        </p:txBody>
      </p:sp>
      <p:sp>
        <p:nvSpPr>
          <p:cNvPr id="27" name="Text 25"/>
          <p:cNvSpPr/>
          <p:nvPr/>
        </p:nvSpPr>
        <p:spPr>
          <a:xfrm>
            <a:off x="7011274" y="3834132"/>
            <a:ext cx="543084" cy="271780"/>
          </a:xfrm>
          <a:custGeom>
            <a:avLst/>
            <a:gdLst/>
            <a:ahLst/>
            <a:cxnLst/>
            <a:rect l="l" t="t" r="r" b="b"/>
            <a:pathLst>
              <a:path w="543084" h="271780">
                <a:moveTo>
                  <a:pt x="135890" y="0"/>
                </a:moveTo>
                <a:lnTo>
                  <a:pt x="407194" y="0"/>
                </a:lnTo>
                <a:arcTo hR="135890" wR="135890" stAng="16200000" swAng="5400000"/>
                <a:lnTo>
                  <a:pt x="543084" y="135890"/>
                </a:lnTo>
                <a:arcTo hR="135890" wR="135890" stAng="0" swAng="5400000"/>
                <a:lnTo>
                  <a:pt x="135890" y="271780"/>
                </a:lnTo>
                <a:arcTo hR="135890" wR="135890" stAng="5400000" swAng="5400000"/>
                <a:lnTo>
                  <a:pt x="0" y="135890"/>
                </a:lnTo>
                <a:arcTo hR="135890" wR="135890" stAng="10800000" swAng="5400000"/>
                <a:close/>
              </a:path>
            </a:pathLst>
          </a:custGeom>
          <a:noFill/>
          <a:ln w="12700">
            <a:solidFill>
              <a:srgbClr val="14213D"/>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Next</a:t>
            </a:r>
            <a:endParaRPr lang="en-US" sz="1200" dirty="0"/>
          </a:p>
        </p:txBody>
      </p:sp>
      <p:sp>
        <p:nvSpPr>
          <p:cNvPr id="28" name="Text 26"/>
          <p:cNvSpPr/>
          <p:nvPr/>
        </p:nvSpPr>
        <p:spPr>
          <a:xfrm>
            <a:off x="4631214" y="4201161"/>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Data warehouse and SQL, seaborn and Tableau</a:t>
            </a:r>
            <a:endParaRPr lang="en-US" sz="1400" dirty="0"/>
          </a:p>
        </p:txBody>
      </p:sp>
      <p:sp>
        <p:nvSpPr>
          <p:cNvPr id="29" name="Shape 27"/>
          <p:cNvSpPr/>
          <p:nvPr/>
        </p:nvSpPr>
        <p:spPr>
          <a:xfrm>
            <a:off x="7992507" y="3548382"/>
            <a:ext cx="3386693" cy="1384300"/>
          </a:xfrm>
          <a:prstGeom prst="roundRect">
            <a:avLst>
              <a:gd name="adj" fmla="val 7339"/>
            </a:avLst>
          </a:prstGeom>
          <a:solidFill>
            <a:srgbClr val="F6F4EE"/>
          </a:solidFill>
          <a:ln/>
        </p:spPr>
      </p:sp>
      <p:sp>
        <p:nvSpPr>
          <p:cNvPr id="30" name="Shape 28"/>
          <p:cNvSpPr/>
          <p:nvPr/>
        </p:nvSpPr>
        <p:spPr>
          <a:xfrm>
            <a:off x="7992507" y="3548382"/>
            <a:ext cx="3386693" cy="1384300"/>
          </a:xfrm>
          <a:custGeom>
            <a:avLst/>
            <a:gdLst/>
            <a:ahLst/>
            <a:cxnLst/>
            <a:rect l="l" t="t" r="r" b="b"/>
            <a:pathLst>
              <a:path w="3386693" h="138430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A9A391"/>
          </a:solidFill>
          <a:ln/>
        </p:spPr>
      </p:sp>
      <p:sp>
        <p:nvSpPr>
          <p:cNvPr id="31" name="Text 29"/>
          <p:cNvSpPr/>
          <p:nvPr/>
        </p:nvSpPr>
        <p:spPr>
          <a:xfrm>
            <a:off x="8221107" y="3832861"/>
            <a:ext cx="124796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6 · Advise</a:t>
            </a:r>
            <a:endParaRPr lang="en-US" sz="1800" dirty="0"/>
          </a:p>
        </p:txBody>
      </p:sp>
      <p:sp>
        <p:nvSpPr>
          <p:cNvPr id="32" name="Text 30"/>
          <p:cNvSpPr/>
          <p:nvPr/>
        </p:nvSpPr>
        <p:spPr>
          <a:xfrm>
            <a:off x="10601166" y="3834132"/>
            <a:ext cx="543084" cy="271780"/>
          </a:xfrm>
          <a:custGeom>
            <a:avLst/>
            <a:gdLst/>
            <a:ahLst/>
            <a:cxnLst/>
            <a:rect l="l" t="t" r="r" b="b"/>
            <a:pathLst>
              <a:path w="543084" h="271780">
                <a:moveTo>
                  <a:pt x="135890" y="0"/>
                </a:moveTo>
                <a:lnTo>
                  <a:pt x="407194" y="0"/>
                </a:lnTo>
                <a:arcTo hR="135890" wR="135890" stAng="16200000" swAng="5400000"/>
                <a:lnTo>
                  <a:pt x="543084" y="135890"/>
                </a:lnTo>
                <a:arcTo hR="135890" wR="135890" stAng="0" swAng="5400000"/>
                <a:lnTo>
                  <a:pt x="135890" y="271780"/>
                </a:lnTo>
                <a:arcTo hR="135890" wR="135890" stAng="5400000" swAng="5400000"/>
                <a:lnTo>
                  <a:pt x="0" y="135890"/>
                </a:lnTo>
                <a:arcTo hR="135890" wR="135890" stAng="10800000" swAng="5400000"/>
                <a:close/>
              </a:path>
            </a:pathLst>
          </a:custGeom>
          <a:noFill/>
          <a:ln w="12700">
            <a:solidFill>
              <a:srgbClr val="14213D"/>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Next</a:t>
            </a:r>
            <a:endParaRPr lang="en-US" sz="1200" dirty="0"/>
          </a:p>
        </p:txBody>
      </p:sp>
      <p:sp>
        <p:nvSpPr>
          <p:cNvPr id="33" name="Text 31"/>
          <p:cNvSpPr/>
          <p:nvPr/>
        </p:nvSpPr>
        <p:spPr>
          <a:xfrm>
            <a:off x="8221107" y="4201161"/>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Simple scikit-learn model, then credit-risk advice</a:t>
            </a:r>
            <a:endParaRPr lang="en-US" sz="1400" dirty="0"/>
          </a:p>
        </p:txBody>
      </p:sp>
      <p:sp>
        <p:nvSpPr>
          <p:cNvPr id="34" name="Text 32"/>
          <p:cNvSpPr/>
          <p:nvPr/>
        </p:nvSpPr>
        <p:spPr>
          <a:xfrm>
            <a:off x="812800" y="6238239"/>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35" name="Text 33"/>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CLEANING · 2023–2025 DATA</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Every gap now has a reason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71042"/>
          <a:ext cx="10556240" cy="2311400"/>
        </p:xfrm>
        <a:graphic>
          <a:graphicData uri="http://schemas.openxmlformats.org/drawingml/2006/table">
            <a:tbl>
              <a:tblPr/>
              <a:tblGrid>
                <a:gridCol w="3272434"/>
                <a:gridCol w="1372311"/>
                <a:gridCol w="3061310"/>
                <a:gridCol w="2850185"/>
              </a:tblGrid>
              <a:tr h="330200">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Column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Missing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What we did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months_in_default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86.3%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Loan never defaulted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Added a 0/1 flag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early_repaid_at · next_payment_date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67.9% · 54.4%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Not repaid early · no payment due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Kept: missing by design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customer_risk_rating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Loans issued without a rating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Own group: “Unrated”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has_default_within_12_months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6.2%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Active loans under 12 months old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Filled known outcomes; rest left 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months_on_book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Cancelled loans that never ran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Kept; cancelled loans flagged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combined_income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2 loans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Isolated gaps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Removed the 2 rows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5" name="Text 2"/>
          <p:cNvSpPr/>
          <p:nvPr/>
        </p:nvSpPr>
        <p:spPr>
          <a:xfrm>
            <a:off x="812800" y="6238239"/>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6" name="Text 3"/>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4501A"/>
                </a:solidFill>
                <a:latin typeface="IBM Plex Sans" pitchFamily="34" charset="0"/>
                <a:ea typeface="IBM Plex Sans" pitchFamily="34" charset="-122"/>
                <a:cs typeface="IBM Plex Sans" pitchFamily="34" charset="-120"/>
              </a:rPr>
              <a:t>TASK OWNERSHIP · GITHUB SETUP</a:t>
            </a:r>
            <a:endParaRPr lang="en-US" sz="1200" dirty="0"/>
          </a:p>
        </p:txBody>
      </p:sp>
      <p:sp>
        <p:nvSpPr>
          <p:cNvPr id="3" name="Text 1"/>
          <p:cNvSpPr/>
          <p:nvPr>
            <p:ph type="title"/>
          </p:nvPr>
        </p:nvSpPr>
        <p:spPr>
          <a:xfrm>
            <a:off x="812800" y="1153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Who owns what, and where it lives</a:t>
            </a:r>
            <a:endParaRPr lang="en-US" sz="3600" dirty="0"/>
          </a:p>
        </p:txBody>
      </p:sp>
      <p:sp>
        <p:nvSpPr>
          <p:cNvPr id="4" name="Shape 2"/>
          <p:cNvSpPr/>
          <p:nvPr/>
        </p:nvSpPr>
        <p:spPr>
          <a:xfrm>
            <a:off x="815975" y="1964057"/>
            <a:ext cx="5124450" cy="1060450"/>
          </a:xfrm>
          <a:prstGeom prst="roundRect">
            <a:avLst>
              <a:gd name="adj" fmla="val 9281"/>
            </a:avLst>
          </a:prstGeom>
          <a:solidFill>
            <a:srgbClr val="FFFDF8"/>
          </a:solidFill>
          <a:ln w="6350">
            <a:solidFill>
              <a:srgbClr val="DDD7C8"/>
            </a:solidFill>
            <a:prstDash val="solid"/>
          </a:ln>
        </p:spPr>
      </p:sp>
      <p:sp>
        <p:nvSpPr>
          <p:cNvPr id="5" name="Text 3"/>
          <p:cNvSpPr/>
          <p:nvPr/>
        </p:nvSpPr>
        <p:spPr>
          <a:xfrm>
            <a:off x="1046480" y="21945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Srinidhi Gokul</a:t>
            </a:r>
            <a:endParaRPr lang="en-US" sz="1800" dirty="0"/>
          </a:p>
        </p:txBody>
      </p:sp>
      <p:sp>
        <p:nvSpPr>
          <p:cNvPr id="6" name="Text 4"/>
          <p:cNvSpPr/>
          <p:nvPr/>
        </p:nvSpPr>
        <p:spPr>
          <a:xfrm>
            <a:off x="1046480" y="2545082"/>
            <a:ext cx="48907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Cleaning notebook, README, data dictionary, cleaning log</a:t>
            </a:r>
            <a:endParaRPr lang="en-US" sz="1400" dirty="0"/>
          </a:p>
        </p:txBody>
      </p:sp>
      <p:sp>
        <p:nvSpPr>
          <p:cNvPr id="7" name="Shape 5"/>
          <p:cNvSpPr/>
          <p:nvPr/>
        </p:nvSpPr>
        <p:spPr>
          <a:xfrm>
            <a:off x="815975" y="3183257"/>
            <a:ext cx="5124450" cy="1060450"/>
          </a:xfrm>
          <a:prstGeom prst="roundRect">
            <a:avLst>
              <a:gd name="adj" fmla="val 9281"/>
            </a:avLst>
          </a:prstGeom>
          <a:solidFill>
            <a:srgbClr val="FFFDF8"/>
          </a:solidFill>
          <a:ln w="6350">
            <a:solidFill>
              <a:srgbClr val="DDD7C8"/>
            </a:solidFill>
            <a:prstDash val="solid"/>
          </a:ln>
        </p:spPr>
      </p:sp>
      <p:sp>
        <p:nvSpPr>
          <p:cNvPr id="8" name="Text 6"/>
          <p:cNvSpPr/>
          <p:nvPr/>
        </p:nvSpPr>
        <p:spPr>
          <a:xfrm>
            <a:off x="1046480" y="341376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Mang Chin Par</a:t>
            </a:r>
            <a:endParaRPr lang="en-US" sz="1800" dirty="0"/>
          </a:p>
        </p:txBody>
      </p:sp>
      <p:sp>
        <p:nvSpPr>
          <p:cNvPr id="9" name="Text 7"/>
          <p:cNvSpPr/>
          <p:nvPr/>
        </p:nvSpPr>
        <p:spPr>
          <a:xfrm>
            <a:off x="1046480" y="3764282"/>
            <a:ext cx="48033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Repository and Git LFS setup, dataset updates</a:t>
            </a:r>
            <a:endParaRPr lang="en-US" sz="1400" dirty="0"/>
          </a:p>
        </p:txBody>
      </p:sp>
      <p:sp>
        <p:nvSpPr>
          <p:cNvPr id="10" name="Shape 8"/>
          <p:cNvSpPr/>
          <p:nvPr/>
        </p:nvSpPr>
        <p:spPr>
          <a:xfrm>
            <a:off x="6248400" y="1960882"/>
            <a:ext cx="5130800" cy="2032000"/>
          </a:xfrm>
          <a:prstGeom prst="roundRect">
            <a:avLst>
              <a:gd name="adj" fmla="val 5000"/>
            </a:avLst>
          </a:prstGeom>
          <a:solidFill>
            <a:srgbClr val="14213D"/>
          </a:solidFill>
          <a:ln/>
        </p:spPr>
      </p:sp>
      <p:pic>
        <p:nvPicPr>
          <p:cNvPr id="11" name="Image 0" descr="Code">    </p:cNvPr>
          <p:cNvPicPr>
            <a:picLocks noChangeAspect="1"/>
          </p:cNvPicPr>
          <p:nvPr/>
        </p:nvPicPr>
        <p:blipFill>
          <a:blip r:embed="rId1"/>
          <a:srcRect l="0" r="0" t="0" b="0"/>
          <a:stretch/>
        </p:blipFill>
        <p:spPr>
          <a:xfrm>
            <a:off x="6527800" y="2240282"/>
            <a:ext cx="279400" cy="279400"/>
          </a:xfrm>
          <a:prstGeom prst="rect">
            <a:avLst/>
          </a:prstGeom>
        </p:spPr>
      </p:pic>
      <p:sp>
        <p:nvSpPr>
          <p:cNvPr id="12" name="Text 9"/>
          <p:cNvSpPr/>
          <p:nvPr/>
        </p:nvSpPr>
        <p:spPr>
          <a:xfrm>
            <a:off x="6934200" y="2255521"/>
            <a:ext cx="264575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Capstone-Bondora-Project</a:t>
            </a:r>
            <a:endParaRPr lang="en-US" sz="1400" dirty="0"/>
          </a:p>
        </p:txBody>
      </p:sp>
      <p:sp>
        <p:nvSpPr>
          <p:cNvPr id="13" name="Text 10"/>
          <p:cNvSpPr/>
          <p:nvPr/>
        </p:nvSpPr>
        <p:spPr>
          <a:xfrm>
            <a:off x="6606032" y="2646682"/>
            <a:ext cx="4623308"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b="1" dirty="0">
                <a:solidFill>
                  <a:srgbClr val="F6F4EE"/>
                </a:solidFill>
                <a:latin typeface="IBM Plex Sans" pitchFamily="34" charset="0"/>
                <a:ea typeface="IBM Plex Sans" pitchFamily="34" charset="-122"/>
                <a:cs typeface="IBM Plex Sans" pitchFamily="34" charset="-120"/>
              </a:rPr>
              <a:t>data/</a:t>
            </a:r>
            <a:r>
              <a:rPr lang="en-US" sz="1400" dirty="0">
                <a:solidFill>
                  <a:srgbClr val="D5DBE7"/>
                </a:solidFill>
                <a:latin typeface="IBM Plex Sans" pitchFamily="34" charset="0"/>
                <a:ea typeface="IBM Plex Sans" pitchFamily="34" charset="-122"/>
                <a:cs typeface="IBM Plex Sans" pitchFamily="34" charset="-120"/>
              </a:rPr>
              <a:t> Excel file via Git LFS</a:t>
            </a:r>
            <a:endParaRPr lang="en-US" sz="1400" dirty="0"/>
          </a:p>
          <a:p>
            <a:pPr algn="l" marL="175768" indent="-175768">
              <a:lnSpc>
                <a:spcPts val="2100"/>
              </a:lnSpc>
              <a:buSzPct val="100000"/>
              <a:buChar char="•"/>
            </a:pPr>
            <a:r>
              <a:rPr lang="en-US" sz="1400" b="1" dirty="0">
                <a:solidFill>
                  <a:srgbClr val="F6F4EE"/>
                </a:solidFill>
                <a:latin typeface="IBM Plex Sans" pitchFamily="34" charset="0"/>
                <a:ea typeface="IBM Plex Sans" pitchFamily="34" charset="-122"/>
                <a:cs typeface="IBM Plex Sans" pitchFamily="34" charset="-120"/>
              </a:rPr>
              <a:t>Cleaning_and_Analyzing/</a:t>
            </a:r>
            <a:r>
              <a:rPr lang="en-US" sz="1400" dirty="0">
                <a:solidFill>
                  <a:srgbClr val="D5DBE7"/>
                </a:solidFill>
                <a:latin typeface="IBM Plex Sans" pitchFamily="34" charset="0"/>
                <a:ea typeface="IBM Plex Sans" pitchFamily="34" charset="-122"/>
                <a:cs typeface="IBM Plex Sans" pitchFamily="34" charset="-120"/>
              </a:rPr>
              <a:t> notebook, cleaning log</a:t>
            </a:r>
            <a:endParaRPr lang="en-US" sz="1400" dirty="0"/>
          </a:p>
          <a:p>
            <a:pPr algn="l" marL="175768" indent="-175768">
              <a:lnSpc>
                <a:spcPts val="2100"/>
              </a:lnSpc>
              <a:buSzPct val="100000"/>
              <a:buChar char="•"/>
            </a:pPr>
            <a:r>
              <a:rPr lang="en-US" sz="1400" b="1" dirty="0">
                <a:solidFill>
                  <a:srgbClr val="F6F4EE"/>
                </a:solidFill>
                <a:latin typeface="IBM Plex Sans" pitchFamily="34" charset="0"/>
                <a:ea typeface="IBM Plex Sans" pitchFamily="34" charset="-122"/>
                <a:cs typeface="IBM Plex Sans" pitchFamily="34" charset="-120"/>
              </a:rPr>
              <a:t>Goals/</a:t>
            </a:r>
            <a:r>
              <a:rPr lang="en-US" sz="1400" dirty="0">
                <a:solidFill>
                  <a:srgbClr val="D5DBE7"/>
                </a:solidFill>
                <a:latin typeface="IBM Plex Sans" pitchFamily="34" charset="0"/>
                <a:ea typeface="IBM Plex Sans" pitchFamily="34" charset="-122"/>
                <a:cs typeface="IBM Plex Sans" pitchFamily="34" charset="-120"/>
              </a:rPr>
              <a:t> daily goals</a:t>
            </a:r>
            <a:endParaRPr lang="en-US" sz="1400" dirty="0"/>
          </a:p>
          <a:p>
            <a:pPr algn="l" marL="175768" indent="-175768">
              <a:lnSpc>
                <a:spcPts val="2100"/>
              </a:lnSpc>
              <a:buSzPct val="100000"/>
              <a:buChar char="•"/>
            </a:pPr>
            <a:r>
              <a:rPr lang="en-US" sz="1400" b="1" dirty="0">
                <a:solidFill>
                  <a:srgbClr val="F6F4EE"/>
                </a:solidFill>
                <a:latin typeface="IBM Plex Sans" pitchFamily="34" charset="0"/>
                <a:ea typeface="IBM Plex Sans" pitchFamily="34" charset="-122"/>
                <a:cs typeface="IBM Plex Sans" pitchFamily="34" charset="-120"/>
              </a:rPr>
              <a:t>README.md</a:t>
            </a:r>
            <a:r>
              <a:rPr lang="en-US" sz="1400" dirty="0">
                <a:solidFill>
                  <a:srgbClr val="D5DBE7"/>
                </a:solidFill>
                <a:latin typeface="IBM Plex Sans" pitchFamily="34" charset="0"/>
                <a:ea typeface="IBM Plex Sans" pitchFamily="34" charset="-122"/>
                <a:cs typeface="IBM Plex Sans" pitchFamily="34" charset="-120"/>
              </a:rPr>
              <a:t> overview, data dictionary</a:t>
            </a:r>
            <a:endParaRPr lang="en-US" sz="1400" dirty="0"/>
          </a:p>
        </p:txBody>
      </p:sp>
      <p:sp>
        <p:nvSpPr>
          <p:cNvPr id="14" name="Text 11"/>
          <p:cNvSpPr/>
          <p:nvPr/>
        </p:nvSpPr>
        <p:spPr>
          <a:xfrm>
            <a:off x="812800" y="6238242"/>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15" name="Text 12"/>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E6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84A16"/>
                </a:solidFill>
                <a:latin typeface="IBM Plex Sans" pitchFamily="34" charset="0"/>
                <a:ea typeface="IBM Plex Sans" pitchFamily="34" charset="-122"/>
                <a:cs typeface="IBM Plex Sans" pitchFamily="34" charset="-120"/>
              </a:rPr>
              <a:t>STANDUP</a:t>
            </a:r>
            <a:endParaRPr lang="en-US" sz="1200" dirty="0"/>
          </a:p>
        </p:txBody>
      </p:sp>
      <p:sp>
        <p:nvSpPr>
          <p:cNvPr id="3" name="Text 1"/>
          <p:cNvSpPr/>
          <p:nvPr>
            <p:ph type="title"/>
          </p:nvPr>
        </p:nvSpPr>
        <p:spPr>
          <a:xfrm>
            <a:off x="812800" y="1153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Where we are today</a:t>
            </a:r>
            <a:endParaRPr lang="en-US" sz="3600" dirty="0"/>
          </a:p>
        </p:txBody>
      </p:sp>
      <p:sp>
        <p:nvSpPr>
          <p:cNvPr id="4" name="Shape 2"/>
          <p:cNvSpPr/>
          <p:nvPr/>
        </p:nvSpPr>
        <p:spPr>
          <a:xfrm>
            <a:off x="812800" y="1960879"/>
            <a:ext cx="3386614" cy="2583180"/>
          </a:xfrm>
          <a:prstGeom prst="roundRect">
            <a:avLst>
              <a:gd name="adj" fmla="val 3933"/>
            </a:avLst>
          </a:prstGeom>
          <a:solidFill>
            <a:srgbClr val="F6F4EE"/>
          </a:solidFill>
          <a:ln/>
        </p:spPr>
      </p:sp>
      <p:sp>
        <p:nvSpPr>
          <p:cNvPr id="5" name="Shape 3"/>
          <p:cNvSpPr/>
          <p:nvPr/>
        </p:nvSpPr>
        <p:spPr>
          <a:xfrm>
            <a:off x="812800" y="1960879"/>
            <a:ext cx="3386614" cy="2583180"/>
          </a:xfrm>
          <a:custGeom>
            <a:avLst/>
            <a:gdLst/>
            <a:ahLst/>
            <a:cxnLst/>
            <a:rect l="l" t="t" r="r" b="b"/>
            <a:pathLst>
              <a:path w="3386614" h="2583180">
                <a:moveTo>
                  <a:pt x="0" y="101600"/>
                </a:moveTo>
                <a:lnTo>
                  <a:pt x="0" y="101600"/>
                </a:lnTo>
                <a:arcTo hR="101600" wR="101600" stAng="10800000" swAng="5400000"/>
                <a:lnTo>
                  <a:pt x="3285014" y="0"/>
                </a:lnTo>
                <a:arcTo hR="101600" wR="101600" stAng="16200000" swAng="5400000"/>
                <a:lnTo>
                  <a:pt x="3386614" y="101600"/>
                </a:lnTo>
                <a:arcTo hR="50800" wR="101600" stAng="0" swAng="-5400000"/>
                <a:lnTo>
                  <a:pt x="101600" y="50800"/>
                </a:lnTo>
                <a:arcTo hR="50800" wR="101600" stAng="16200000" swAng="-5400000"/>
                <a:close/>
              </a:path>
            </a:pathLst>
          </a:custGeom>
          <a:solidFill>
            <a:srgbClr val="14213D"/>
          </a:solidFill>
          <a:ln/>
        </p:spPr>
      </p:sp>
      <p:pic>
        <p:nvPicPr>
          <p:cNvPr id="6" name="Image 0" descr="CheckCircle">    </p:cNvPr>
          <p:cNvPicPr>
            <a:picLocks noChangeAspect="1"/>
          </p:cNvPicPr>
          <p:nvPr/>
        </p:nvPicPr>
        <p:blipFill>
          <a:blip r:embed="rId1"/>
          <a:srcRect l="0" r="0" t="0" b="0"/>
          <a:stretch/>
        </p:blipFill>
        <p:spPr>
          <a:xfrm>
            <a:off x="1066800" y="2265679"/>
            <a:ext cx="279400" cy="279400"/>
          </a:xfrm>
          <a:prstGeom prst="rect">
            <a:avLst/>
          </a:prstGeom>
        </p:spPr>
      </p:pic>
      <p:sp>
        <p:nvSpPr>
          <p:cNvPr id="7" name="Text 4"/>
          <p:cNvSpPr/>
          <p:nvPr/>
        </p:nvSpPr>
        <p:spPr>
          <a:xfrm>
            <a:off x="1447800" y="2268221"/>
            <a:ext cx="108632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Finished</a:t>
            </a:r>
            <a:endParaRPr lang="en-US" sz="1800" dirty="0"/>
          </a:p>
        </p:txBody>
      </p:sp>
      <p:sp>
        <p:nvSpPr>
          <p:cNvPr id="8" name="Text 5"/>
          <p:cNvSpPr/>
          <p:nvPr/>
        </p:nvSpPr>
        <p:spPr>
          <a:xfrm>
            <a:off x="1152144" y="2672079"/>
            <a:ext cx="2872008" cy="164338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Filtered to 2023–2025 (410,865 loans)</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Missing values explained for all 21 columns</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Cancelled loans kept and flagged</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Default rate 13.7%, 12-month 9.1%</a:t>
            </a:r>
            <a:endParaRPr lang="en-US" sz="1300" dirty="0"/>
          </a:p>
        </p:txBody>
      </p:sp>
      <p:sp>
        <p:nvSpPr>
          <p:cNvPr id="9" name="Shape 6"/>
          <p:cNvSpPr/>
          <p:nvPr/>
        </p:nvSpPr>
        <p:spPr>
          <a:xfrm>
            <a:off x="4402614" y="1960879"/>
            <a:ext cx="3386693" cy="2583180"/>
          </a:xfrm>
          <a:prstGeom prst="roundRect">
            <a:avLst>
              <a:gd name="adj" fmla="val 3933"/>
            </a:avLst>
          </a:prstGeom>
          <a:solidFill>
            <a:srgbClr val="F6F4EE"/>
          </a:solidFill>
          <a:ln/>
        </p:spPr>
      </p:sp>
      <p:sp>
        <p:nvSpPr>
          <p:cNvPr id="10" name="Shape 7"/>
          <p:cNvSpPr/>
          <p:nvPr/>
        </p:nvSpPr>
        <p:spPr>
          <a:xfrm>
            <a:off x="4402614" y="1960879"/>
            <a:ext cx="3386693" cy="2583180"/>
          </a:xfrm>
          <a:custGeom>
            <a:avLst/>
            <a:gdLst/>
            <a:ahLst/>
            <a:cxnLst/>
            <a:rect l="l" t="t" r="r" b="b"/>
            <a:pathLst>
              <a:path w="3386693" h="258318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C2571B"/>
          </a:solidFill>
          <a:ln/>
        </p:spPr>
      </p:sp>
      <p:pic>
        <p:nvPicPr>
          <p:cNvPr id="11" name="Image 1" descr="Play">    </p:cNvPr>
          <p:cNvPicPr>
            <a:picLocks noChangeAspect="1"/>
          </p:cNvPicPr>
          <p:nvPr/>
        </p:nvPicPr>
        <p:blipFill>
          <a:blip r:embed="rId2"/>
          <a:srcRect l="0" r="0" t="0" b="0"/>
          <a:stretch/>
        </p:blipFill>
        <p:spPr>
          <a:xfrm>
            <a:off x="4656614" y="2265679"/>
            <a:ext cx="279400" cy="279400"/>
          </a:xfrm>
          <a:prstGeom prst="rect">
            <a:avLst/>
          </a:prstGeom>
        </p:spPr>
      </p:pic>
      <p:sp>
        <p:nvSpPr>
          <p:cNvPr id="12" name="Text 8"/>
          <p:cNvSpPr/>
          <p:nvPr/>
        </p:nvSpPr>
        <p:spPr>
          <a:xfrm>
            <a:off x="5037614" y="2268221"/>
            <a:ext cx="59807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Next</a:t>
            </a:r>
            <a:endParaRPr lang="en-US" sz="1800" dirty="0"/>
          </a:p>
        </p:txBody>
      </p:sp>
      <p:sp>
        <p:nvSpPr>
          <p:cNvPr id="13" name="Text 9"/>
          <p:cNvSpPr/>
          <p:nvPr/>
        </p:nvSpPr>
        <p:spPr>
          <a:xfrm>
            <a:off x="4741958" y="2672079"/>
            <a:ext cx="2872090" cy="94996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Default rate by country, income, amount, rate, duration</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Charts in seaborn and Tableau</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Load clean data into SQL</a:t>
            </a:r>
            <a:endParaRPr lang="en-US" sz="1300" dirty="0"/>
          </a:p>
        </p:txBody>
      </p:sp>
      <p:sp>
        <p:nvSpPr>
          <p:cNvPr id="14" name="Shape 10"/>
          <p:cNvSpPr/>
          <p:nvPr/>
        </p:nvSpPr>
        <p:spPr>
          <a:xfrm>
            <a:off x="7992507" y="1960879"/>
            <a:ext cx="3386693" cy="2583180"/>
          </a:xfrm>
          <a:prstGeom prst="roundRect">
            <a:avLst>
              <a:gd name="adj" fmla="val 3933"/>
            </a:avLst>
          </a:prstGeom>
          <a:solidFill>
            <a:srgbClr val="F6F4EE"/>
          </a:solidFill>
          <a:ln/>
        </p:spPr>
      </p:sp>
      <p:sp>
        <p:nvSpPr>
          <p:cNvPr id="15" name="Shape 11"/>
          <p:cNvSpPr/>
          <p:nvPr/>
        </p:nvSpPr>
        <p:spPr>
          <a:xfrm>
            <a:off x="7992507" y="1960879"/>
            <a:ext cx="3386693" cy="2583180"/>
          </a:xfrm>
          <a:custGeom>
            <a:avLst/>
            <a:gdLst/>
            <a:ahLst/>
            <a:cxnLst/>
            <a:rect l="l" t="t" r="r" b="b"/>
            <a:pathLst>
              <a:path w="3386693" h="2583180">
                <a:moveTo>
                  <a:pt x="0" y="101600"/>
                </a:moveTo>
                <a:lnTo>
                  <a:pt x="0" y="101600"/>
                </a:lnTo>
                <a:arcTo hR="101600" wR="101600" stAng="10800000" swAng="5400000"/>
                <a:lnTo>
                  <a:pt x="3285093" y="0"/>
                </a:lnTo>
                <a:arcTo hR="101600" wR="101600" stAng="16200000" swAng="5400000"/>
                <a:lnTo>
                  <a:pt x="3386693" y="101600"/>
                </a:lnTo>
                <a:arcTo hR="50800" wR="101600" stAng="0" swAng="-5400000"/>
                <a:lnTo>
                  <a:pt x="101600" y="50800"/>
                </a:lnTo>
                <a:arcTo hR="50800" wR="101600" stAng="16200000" swAng="-5400000"/>
                <a:close/>
              </a:path>
            </a:pathLst>
          </a:custGeom>
          <a:solidFill>
            <a:srgbClr val="A9A391"/>
          </a:solidFill>
          <a:ln/>
        </p:spPr>
      </p:sp>
      <p:pic>
        <p:nvPicPr>
          <p:cNvPr id="16" name="Image 2" descr="Warning">    </p:cNvPr>
          <p:cNvPicPr>
            <a:picLocks noChangeAspect="1"/>
          </p:cNvPicPr>
          <p:nvPr/>
        </p:nvPicPr>
        <p:blipFill>
          <a:blip r:embed="rId3"/>
          <a:srcRect l="0" r="0" t="0" b="0"/>
          <a:stretch/>
        </p:blipFill>
        <p:spPr>
          <a:xfrm>
            <a:off x="8246507" y="2265679"/>
            <a:ext cx="279400" cy="279400"/>
          </a:xfrm>
          <a:prstGeom prst="rect">
            <a:avLst/>
          </a:prstGeom>
        </p:spPr>
      </p:pic>
      <p:sp>
        <p:nvSpPr>
          <p:cNvPr id="17" name="Text 12"/>
          <p:cNvSpPr/>
          <p:nvPr/>
        </p:nvSpPr>
        <p:spPr>
          <a:xfrm>
            <a:off x="8627507" y="2268221"/>
            <a:ext cx="198348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Open questions</a:t>
            </a:r>
            <a:endParaRPr lang="en-US" sz="1800" dirty="0"/>
          </a:p>
        </p:txBody>
      </p:sp>
      <p:sp>
        <p:nvSpPr>
          <p:cNvPr id="18" name="Text 13"/>
          <p:cNvSpPr/>
          <p:nvPr/>
        </p:nvSpPr>
        <p:spPr>
          <a:xfrm>
            <a:off x="8331851" y="2672079"/>
            <a:ext cx="2872090" cy="118110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Should 14,185 written-off loans count as defaults?</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Two date columns mix dates with Excel numbers</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HR rating has only 19 loans</a:t>
            </a:r>
            <a:endParaRPr lang="en-US" sz="1300" dirty="0"/>
          </a:p>
        </p:txBody>
      </p:sp>
      <p:sp>
        <p:nvSpPr>
          <p:cNvPr id="19" name="Text 14"/>
          <p:cNvSpPr/>
          <p:nvPr/>
        </p:nvSpPr>
        <p:spPr>
          <a:xfrm>
            <a:off x="812800" y="4848864"/>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Evidence:</a:t>
            </a:r>
            <a:r>
              <a:rPr lang="en-US" sz="1400" dirty="0">
                <a:solidFill>
                  <a:srgbClr val="4A5568"/>
                </a:solidFill>
                <a:latin typeface="IBM Plex Sans" pitchFamily="34" charset="0"/>
                <a:ea typeface="IBM Plex Sans" pitchFamily="34" charset="-122"/>
                <a:cs typeface="IBM Plex Sans" pitchFamily="34" charset="-120"/>
              </a:rPr>
              <a:t> missing-value summary in analysis.ipynb · changes.md · README KPI table · GitHub history</a:t>
            </a:r>
            <a:endParaRPr lang="en-US" sz="1400" dirty="0"/>
          </a:p>
        </p:txBody>
      </p:sp>
      <p:sp>
        <p:nvSpPr>
          <p:cNvPr id="20" name="Text 15"/>
          <p:cNvSpPr/>
          <p:nvPr/>
        </p:nvSpPr>
        <p:spPr>
          <a:xfrm>
            <a:off x="812800" y="6238242"/>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21" name="Text 16"/>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27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A65A"/>
                </a:solidFill>
                <a:latin typeface="IBM Plex Sans" pitchFamily="34" charset="0"/>
                <a:ea typeface="IBM Plex Sans" pitchFamily="34" charset="-122"/>
                <a:cs typeface="IBM Plex Sans" pitchFamily="34" charset="-120"/>
              </a:rPr>
              <a:t>ONE INSIGHT</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E"/>
                </a:solidFill>
                <a:latin typeface="Source Serif 4" pitchFamily="18" charset="0"/>
                <a:ea typeface="Source Serif 4" pitchFamily="18" charset="-122"/>
                <a:cs typeface="Source Serif 4" pitchFamily="18" charset="-120"/>
              </a:rPr>
              <a:t>The worse the rating, the more loans default</a:t>
            </a:r>
            <a:endParaRPr lang="en-US" sz="3200" dirty="0"/>
          </a:p>
        </p:txBody>
      </p:sp>
      <p:sp>
        <p:nvSpPr>
          <p:cNvPr id="4" name="Text 2"/>
          <p:cNvSpPr/>
          <p:nvPr/>
        </p:nvSpPr>
        <p:spPr>
          <a:xfrm>
            <a:off x="812800" y="1879600"/>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AA</a:t>
            </a:r>
            <a:endParaRPr lang="en-US" sz="1300" dirty="0"/>
          </a:p>
        </p:txBody>
      </p:sp>
      <p:sp>
        <p:nvSpPr>
          <p:cNvPr id="5" name="Shape 3"/>
          <p:cNvSpPr/>
          <p:nvPr/>
        </p:nvSpPr>
        <p:spPr>
          <a:xfrm>
            <a:off x="1790700" y="1887221"/>
            <a:ext cx="1003300" cy="215900"/>
          </a:xfrm>
          <a:prstGeom prst="roundRect">
            <a:avLst>
              <a:gd name="adj" fmla="val 11765"/>
            </a:avLst>
          </a:prstGeom>
          <a:solidFill>
            <a:srgbClr val="F2A65A"/>
          </a:solidFill>
          <a:ln/>
        </p:spPr>
      </p:sp>
      <p:sp>
        <p:nvSpPr>
          <p:cNvPr id="6" name="Text 4"/>
          <p:cNvSpPr/>
          <p:nvPr/>
        </p:nvSpPr>
        <p:spPr>
          <a:xfrm>
            <a:off x="2946400" y="1879600"/>
            <a:ext cx="47529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5.5%</a:t>
            </a:r>
            <a:endParaRPr lang="en-US" sz="1300" dirty="0"/>
          </a:p>
        </p:txBody>
      </p:sp>
      <p:sp>
        <p:nvSpPr>
          <p:cNvPr id="7" name="Text 5"/>
          <p:cNvSpPr/>
          <p:nvPr/>
        </p:nvSpPr>
        <p:spPr>
          <a:xfrm>
            <a:off x="812800" y="2174242"/>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A</a:t>
            </a:r>
            <a:endParaRPr lang="en-US" sz="1300" dirty="0"/>
          </a:p>
        </p:txBody>
      </p:sp>
      <p:sp>
        <p:nvSpPr>
          <p:cNvPr id="8" name="Shape 6"/>
          <p:cNvSpPr/>
          <p:nvPr/>
        </p:nvSpPr>
        <p:spPr>
          <a:xfrm>
            <a:off x="1790700" y="2181864"/>
            <a:ext cx="1841500" cy="215900"/>
          </a:xfrm>
          <a:prstGeom prst="roundRect">
            <a:avLst>
              <a:gd name="adj" fmla="val 11765"/>
            </a:avLst>
          </a:prstGeom>
          <a:solidFill>
            <a:srgbClr val="F2A65A"/>
          </a:solidFill>
          <a:ln/>
        </p:spPr>
      </p:sp>
      <p:sp>
        <p:nvSpPr>
          <p:cNvPr id="9" name="Text 7"/>
          <p:cNvSpPr/>
          <p:nvPr/>
        </p:nvSpPr>
        <p:spPr>
          <a:xfrm>
            <a:off x="3784600" y="2174242"/>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10.1%</a:t>
            </a:r>
            <a:endParaRPr lang="en-US" sz="1300" dirty="0"/>
          </a:p>
        </p:txBody>
      </p:sp>
      <p:sp>
        <p:nvSpPr>
          <p:cNvPr id="10" name="Text 8"/>
          <p:cNvSpPr/>
          <p:nvPr/>
        </p:nvSpPr>
        <p:spPr>
          <a:xfrm>
            <a:off x="812800" y="2468879"/>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B</a:t>
            </a:r>
            <a:endParaRPr lang="en-US" sz="1300" dirty="0"/>
          </a:p>
        </p:txBody>
      </p:sp>
      <p:sp>
        <p:nvSpPr>
          <p:cNvPr id="11" name="Shape 9"/>
          <p:cNvSpPr/>
          <p:nvPr/>
        </p:nvSpPr>
        <p:spPr>
          <a:xfrm>
            <a:off x="1790700" y="2476500"/>
            <a:ext cx="2495550" cy="215900"/>
          </a:xfrm>
          <a:prstGeom prst="roundRect">
            <a:avLst>
              <a:gd name="adj" fmla="val 11765"/>
            </a:avLst>
          </a:prstGeom>
          <a:solidFill>
            <a:srgbClr val="F2A65A"/>
          </a:solidFill>
          <a:ln/>
        </p:spPr>
      </p:sp>
      <p:sp>
        <p:nvSpPr>
          <p:cNvPr id="12" name="Text 10"/>
          <p:cNvSpPr/>
          <p:nvPr/>
        </p:nvSpPr>
        <p:spPr>
          <a:xfrm>
            <a:off x="4438650" y="2468879"/>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13.7%</a:t>
            </a:r>
            <a:endParaRPr lang="en-US" sz="1300" dirty="0"/>
          </a:p>
        </p:txBody>
      </p:sp>
      <p:sp>
        <p:nvSpPr>
          <p:cNvPr id="13" name="Text 11"/>
          <p:cNvSpPr/>
          <p:nvPr/>
        </p:nvSpPr>
        <p:spPr>
          <a:xfrm>
            <a:off x="812800" y="2763521"/>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C</a:t>
            </a:r>
            <a:endParaRPr lang="en-US" sz="1300" dirty="0"/>
          </a:p>
        </p:txBody>
      </p:sp>
      <p:sp>
        <p:nvSpPr>
          <p:cNvPr id="14" name="Shape 12"/>
          <p:cNvSpPr/>
          <p:nvPr/>
        </p:nvSpPr>
        <p:spPr>
          <a:xfrm>
            <a:off x="1790700" y="2771142"/>
            <a:ext cx="3136900" cy="215900"/>
          </a:xfrm>
          <a:prstGeom prst="roundRect">
            <a:avLst>
              <a:gd name="adj" fmla="val 11765"/>
            </a:avLst>
          </a:prstGeom>
          <a:solidFill>
            <a:srgbClr val="F2A65A"/>
          </a:solidFill>
          <a:ln/>
        </p:spPr>
      </p:sp>
      <p:sp>
        <p:nvSpPr>
          <p:cNvPr id="15" name="Text 13"/>
          <p:cNvSpPr/>
          <p:nvPr/>
        </p:nvSpPr>
        <p:spPr>
          <a:xfrm>
            <a:off x="5080000" y="2763521"/>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17.2%</a:t>
            </a:r>
            <a:endParaRPr lang="en-US" sz="1300" dirty="0"/>
          </a:p>
        </p:txBody>
      </p:sp>
      <p:sp>
        <p:nvSpPr>
          <p:cNvPr id="16" name="Text 14"/>
          <p:cNvSpPr/>
          <p:nvPr/>
        </p:nvSpPr>
        <p:spPr>
          <a:xfrm>
            <a:off x="812800" y="3058164"/>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D</a:t>
            </a:r>
            <a:endParaRPr lang="en-US" sz="1300" dirty="0"/>
          </a:p>
        </p:txBody>
      </p:sp>
      <p:sp>
        <p:nvSpPr>
          <p:cNvPr id="17" name="Shape 15"/>
          <p:cNvSpPr/>
          <p:nvPr/>
        </p:nvSpPr>
        <p:spPr>
          <a:xfrm>
            <a:off x="1790700" y="3065779"/>
            <a:ext cx="3790950" cy="215900"/>
          </a:xfrm>
          <a:prstGeom prst="roundRect">
            <a:avLst>
              <a:gd name="adj" fmla="val 11765"/>
            </a:avLst>
          </a:prstGeom>
          <a:solidFill>
            <a:srgbClr val="F2A65A"/>
          </a:solidFill>
          <a:ln/>
        </p:spPr>
      </p:sp>
      <p:sp>
        <p:nvSpPr>
          <p:cNvPr id="18" name="Text 16"/>
          <p:cNvSpPr/>
          <p:nvPr/>
        </p:nvSpPr>
        <p:spPr>
          <a:xfrm>
            <a:off x="5734050" y="3058164"/>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20.8%</a:t>
            </a:r>
            <a:endParaRPr lang="en-US" sz="1300" dirty="0"/>
          </a:p>
        </p:txBody>
      </p:sp>
      <p:sp>
        <p:nvSpPr>
          <p:cNvPr id="19" name="Text 17"/>
          <p:cNvSpPr/>
          <p:nvPr/>
        </p:nvSpPr>
        <p:spPr>
          <a:xfrm>
            <a:off x="812800" y="3352800"/>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E</a:t>
            </a:r>
            <a:endParaRPr lang="en-US" sz="1300" dirty="0"/>
          </a:p>
        </p:txBody>
      </p:sp>
      <p:sp>
        <p:nvSpPr>
          <p:cNvPr id="20" name="Shape 18"/>
          <p:cNvSpPr/>
          <p:nvPr/>
        </p:nvSpPr>
        <p:spPr>
          <a:xfrm>
            <a:off x="1790700" y="3360421"/>
            <a:ext cx="4102100" cy="215900"/>
          </a:xfrm>
          <a:prstGeom prst="roundRect">
            <a:avLst>
              <a:gd name="adj" fmla="val 11765"/>
            </a:avLst>
          </a:prstGeom>
          <a:solidFill>
            <a:srgbClr val="F2A65A"/>
          </a:solidFill>
          <a:ln/>
        </p:spPr>
      </p:sp>
      <p:sp>
        <p:nvSpPr>
          <p:cNvPr id="21" name="Text 19"/>
          <p:cNvSpPr/>
          <p:nvPr/>
        </p:nvSpPr>
        <p:spPr>
          <a:xfrm>
            <a:off x="6045200" y="3352800"/>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22.5%</a:t>
            </a:r>
            <a:endParaRPr lang="en-US" sz="1300" dirty="0"/>
          </a:p>
        </p:txBody>
      </p:sp>
      <p:sp>
        <p:nvSpPr>
          <p:cNvPr id="22" name="Text 20"/>
          <p:cNvSpPr/>
          <p:nvPr/>
        </p:nvSpPr>
        <p:spPr>
          <a:xfrm>
            <a:off x="812800" y="3647442"/>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F</a:t>
            </a:r>
            <a:endParaRPr lang="en-US" sz="1300" dirty="0"/>
          </a:p>
        </p:txBody>
      </p:sp>
      <p:sp>
        <p:nvSpPr>
          <p:cNvPr id="23" name="Shape 21"/>
          <p:cNvSpPr/>
          <p:nvPr/>
        </p:nvSpPr>
        <p:spPr>
          <a:xfrm>
            <a:off x="1790700" y="3655064"/>
            <a:ext cx="4648200" cy="215900"/>
          </a:xfrm>
          <a:prstGeom prst="roundRect">
            <a:avLst>
              <a:gd name="adj" fmla="val 11765"/>
            </a:avLst>
          </a:prstGeom>
          <a:solidFill>
            <a:srgbClr val="F2A65A"/>
          </a:solidFill>
          <a:ln/>
        </p:spPr>
      </p:sp>
      <p:sp>
        <p:nvSpPr>
          <p:cNvPr id="24" name="Text 22"/>
          <p:cNvSpPr/>
          <p:nvPr/>
        </p:nvSpPr>
        <p:spPr>
          <a:xfrm>
            <a:off x="6591300" y="3647442"/>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25.5%</a:t>
            </a:r>
            <a:endParaRPr lang="en-US" sz="1300" dirty="0"/>
          </a:p>
        </p:txBody>
      </p:sp>
      <p:sp>
        <p:nvSpPr>
          <p:cNvPr id="25" name="Text 23"/>
          <p:cNvSpPr/>
          <p:nvPr/>
        </p:nvSpPr>
        <p:spPr>
          <a:xfrm>
            <a:off x="812800" y="3942079"/>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G</a:t>
            </a:r>
            <a:endParaRPr lang="en-US" sz="1300" dirty="0"/>
          </a:p>
        </p:txBody>
      </p:sp>
      <p:sp>
        <p:nvSpPr>
          <p:cNvPr id="26" name="Shape 24"/>
          <p:cNvSpPr/>
          <p:nvPr/>
        </p:nvSpPr>
        <p:spPr>
          <a:xfrm>
            <a:off x="1790700" y="3949700"/>
            <a:ext cx="4826000" cy="215900"/>
          </a:xfrm>
          <a:prstGeom prst="roundRect">
            <a:avLst>
              <a:gd name="adj" fmla="val 11765"/>
            </a:avLst>
          </a:prstGeom>
          <a:solidFill>
            <a:srgbClr val="F2A65A"/>
          </a:solidFill>
          <a:ln/>
        </p:spPr>
      </p:sp>
      <p:sp>
        <p:nvSpPr>
          <p:cNvPr id="27" name="Text 25"/>
          <p:cNvSpPr/>
          <p:nvPr/>
        </p:nvSpPr>
        <p:spPr>
          <a:xfrm>
            <a:off x="6769100" y="3942079"/>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26.5%</a:t>
            </a:r>
            <a:endParaRPr lang="en-US" sz="1300" dirty="0"/>
          </a:p>
        </p:txBody>
      </p:sp>
      <p:sp>
        <p:nvSpPr>
          <p:cNvPr id="28" name="Text 26"/>
          <p:cNvSpPr/>
          <p:nvPr/>
        </p:nvSpPr>
        <p:spPr>
          <a:xfrm>
            <a:off x="812800" y="4236721"/>
            <a:ext cx="876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BE7"/>
                </a:solidFill>
                <a:latin typeface="IBM Plex Sans" pitchFamily="34" charset="0"/>
                <a:ea typeface="IBM Plex Sans" pitchFamily="34" charset="-122"/>
                <a:cs typeface="IBM Plex Sans" pitchFamily="34" charset="-120"/>
              </a:rPr>
              <a:t>Unrated</a:t>
            </a:r>
            <a:endParaRPr lang="en-US" sz="1300" dirty="0"/>
          </a:p>
        </p:txBody>
      </p:sp>
      <p:sp>
        <p:nvSpPr>
          <p:cNvPr id="29" name="Shape 27"/>
          <p:cNvSpPr/>
          <p:nvPr/>
        </p:nvSpPr>
        <p:spPr>
          <a:xfrm>
            <a:off x="1790700" y="4244342"/>
            <a:ext cx="3041650" cy="215900"/>
          </a:xfrm>
          <a:prstGeom prst="roundRect">
            <a:avLst>
              <a:gd name="adj" fmla="val 11765"/>
            </a:avLst>
          </a:prstGeom>
          <a:solidFill>
            <a:srgbClr val="B9C2D6"/>
          </a:solidFill>
          <a:ln/>
        </p:spPr>
      </p:sp>
      <p:sp>
        <p:nvSpPr>
          <p:cNvPr id="30" name="Text 28"/>
          <p:cNvSpPr/>
          <p:nvPr/>
        </p:nvSpPr>
        <p:spPr>
          <a:xfrm>
            <a:off x="4984750" y="4236721"/>
            <a:ext cx="59416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4EE"/>
                </a:solidFill>
                <a:latin typeface="IBM Plex Sans" pitchFamily="34" charset="0"/>
                <a:ea typeface="IBM Plex Sans" pitchFamily="34" charset="-122"/>
                <a:cs typeface="IBM Plex Sans" pitchFamily="34" charset="-120"/>
              </a:rPr>
              <a:t>16.7%</a:t>
            </a:r>
            <a:endParaRPr lang="en-US" sz="1300" dirty="0"/>
          </a:p>
        </p:txBody>
      </p:sp>
      <p:sp>
        <p:nvSpPr>
          <p:cNvPr id="31" name="Text 29"/>
          <p:cNvSpPr/>
          <p:nvPr/>
        </p:nvSpPr>
        <p:spPr>
          <a:xfrm>
            <a:off x="8077200" y="1957071"/>
            <a:ext cx="340106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A65A"/>
                </a:solidFill>
                <a:latin typeface="Source Serif 4" pitchFamily="18" charset="0"/>
                <a:ea typeface="Source Serif 4" pitchFamily="18" charset="-122"/>
                <a:cs typeface="Source Serif 4" pitchFamily="18" charset="-120"/>
              </a:rPr>
              <a:t>~5×</a:t>
            </a:r>
            <a:endParaRPr lang="en-US" sz="6000" dirty="0"/>
          </a:p>
        </p:txBody>
      </p:sp>
      <p:sp>
        <p:nvSpPr>
          <p:cNvPr id="32" name="Text 30"/>
          <p:cNvSpPr/>
          <p:nvPr/>
        </p:nvSpPr>
        <p:spPr>
          <a:xfrm>
            <a:off x="8077200" y="2896871"/>
            <a:ext cx="340106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IBM Plex Sans" pitchFamily="34" charset="0"/>
                <a:ea typeface="IBM Plex Sans" pitchFamily="34" charset="-122"/>
                <a:cs typeface="IBM Plex Sans" pitchFamily="34" charset="-120"/>
              </a:rPr>
              <a:t>G-rated loans default about five times as often as AA-rated loans.</a:t>
            </a:r>
            <a:endParaRPr lang="en-US" sz="1600" dirty="0"/>
          </a:p>
        </p:txBody>
      </p:sp>
      <p:sp>
        <p:nvSpPr>
          <p:cNvPr id="33" name="Text 31"/>
          <p:cNvSpPr/>
          <p:nvPr/>
        </p:nvSpPr>
        <p:spPr>
          <a:xfrm>
            <a:off x="8077200" y="3643629"/>
            <a:ext cx="340106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2D6"/>
                </a:solidFill>
                <a:latin typeface="IBM Plex Sans" pitchFamily="34" charset="0"/>
                <a:ea typeface="IBM Plex Sans" pitchFamily="34" charset="-122"/>
                <a:cs typeface="IBM Plex Sans" pitchFamily="34" charset="-120"/>
              </a:rPr>
              <a:t>Unrated loans default at 16.7%, above the 13.7% average: a missing rating is itself a warning sign.</a:t>
            </a:r>
            <a:endParaRPr lang="en-US" sz="1400" dirty="0"/>
          </a:p>
        </p:txBody>
      </p:sp>
      <p:sp>
        <p:nvSpPr>
          <p:cNvPr id="34" name="Text 32"/>
          <p:cNvSpPr/>
          <p:nvPr/>
        </p:nvSpPr>
        <p:spPr>
          <a:xfrm>
            <a:off x="812800" y="4747264"/>
            <a:ext cx="1088339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A"/>
                </a:solidFill>
                <a:latin typeface="IBM Plex Sans" pitchFamily="34" charset="0"/>
                <a:ea typeface="IBM Plex Sans" pitchFamily="34" charset="-122"/>
                <a:cs typeface="IBM Plex Sans" pitchFamily="34" charset="-120"/>
              </a:rPr>
              <a:t>Default rate by risk rating, loans issued 2023–2025. HR left out: only 19 loans.</a:t>
            </a:r>
            <a:endParaRPr lang="en-US" sz="1100" dirty="0"/>
          </a:p>
        </p:txBody>
      </p:sp>
      <p:sp>
        <p:nvSpPr>
          <p:cNvPr id="35" name="Text 33"/>
          <p:cNvSpPr/>
          <p:nvPr/>
        </p:nvSpPr>
        <p:spPr>
          <a:xfrm>
            <a:off x="812800" y="6238242"/>
            <a:ext cx="25443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BA"/>
                </a:solidFill>
                <a:latin typeface="IBM Plex Sans" pitchFamily="34" charset="0"/>
                <a:ea typeface="IBM Plex Sans" pitchFamily="34" charset="-122"/>
                <a:cs typeface="IBM Plex Sans" pitchFamily="34" charset="-120"/>
              </a:rPr>
              <a:t>Bondora credit risk · Standup 1</a:t>
            </a:r>
            <a:endParaRPr lang="en-US" sz="1200" dirty="0"/>
          </a:p>
        </p:txBody>
      </p:sp>
      <p:sp>
        <p:nvSpPr>
          <p:cNvPr id="36" name="Text 3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4B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theme/theme1.xml><?xml version="1.0" encoding="utf-8"?>
<a:theme xmlns:a="http://schemas.openxmlformats.org/drawingml/2006/main" name="Bondora Credit Risk – Standup 1">
  <a:themeElements>
    <a:clrScheme name="Bondora Credit Risk – Standup 1">
      <a:dk1>
        <a:srgbClr val="14213D"/>
      </a:dk1>
      <a:lt1>
        <a:srgbClr val="F6F4EE"/>
      </a:lt1>
      <a:dk2>
        <a:srgbClr val="4D5669"/>
      </a:dk2>
      <a:lt2>
        <a:srgbClr val="DFDFDC"/>
      </a:lt2>
      <a:accent1>
        <a:srgbClr val="F2A65A"/>
      </a:accent1>
      <a:accent2>
        <a:srgbClr val="B4501A"/>
      </a:accent2>
      <a:accent3>
        <a:srgbClr val="A84A16"/>
      </a:accent3>
      <a:accent4>
        <a:srgbClr val="4A5568"/>
      </a:accent4>
      <a:accent5>
        <a:srgbClr val="D5DBE7"/>
      </a:accent5>
      <a:accent6>
        <a:srgbClr val="6B7280"/>
      </a:accent6>
      <a:hlink>
        <a:srgbClr val="0563C1"/>
      </a:hlink>
      <a:folHlink>
        <a:srgbClr val="954F72"/>
      </a:folHlink>
    </a:clrScheme>
    <a:fontScheme name="Bondora Credit Risk – Standup 1">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Bondora Credit Risk – Standup 1</dc:title>
  <dc:subject/>
  <dc:creator/>
  <cp:lastModifiedBy/>
  <cp:revision>1</cp:revision>
  <dcterms:created xsi:type="dcterms:W3CDTF">2026-10-30T14:00:25Z</dcterms:created>
  <dcterms:modified xsi:type="dcterms:W3CDTF">2026-10-30T14:00:25Z</dcterms:modified>
</cp:coreProperties>
</file>